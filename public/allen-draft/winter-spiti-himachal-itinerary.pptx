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7" r:id="rId7"/>
    <p:sldId id="262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9" r:id="rId16"/>
    <p:sldId id="291" r:id="rId17"/>
    <p:sldId id="280" r:id="rId18"/>
    <p:sldId id="281" r:id="rId19"/>
    <p:sldId id="283" r:id="rId20"/>
    <p:sldId id="268" r:id="rId21"/>
    <p:sldId id="282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303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8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15" autoAdjust="0"/>
    <p:restoredTop sz="94660"/>
  </p:normalViewPr>
  <p:slideViewPr>
    <p:cSldViewPr snapToGrid="0">
      <p:cViewPr>
        <p:scale>
          <a:sx n="50" d="100"/>
          <a:sy n="50" d="100"/>
        </p:scale>
        <p:origin x="1170" y="282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3B500-2B2A-736D-AD9A-35164515FC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8AC9FE-A245-428D-82BF-350C5D88D0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7E1EE-7B1F-25D9-1747-91B5801F7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D3C2F-80B2-4BB9-BB40-96341B9D5028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BEBD8-B3AF-6F6D-1D5C-2DE684809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FE010-4925-F8DC-8B29-EFC03E37B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7E73-4F95-4D68-9C2F-B2681B595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64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8DEC9-30C3-D02F-E5A7-2A41B8B65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26BAC1-A4E5-222B-59AD-B58D3D36E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39649-C95B-1E7C-979D-A7E7B897B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D3C2F-80B2-4BB9-BB40-96341B9D5028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30E5D-5B9F-784A-14A2-DF972A1F3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5C9B9-568C-658E-E3E2-94FEE70F5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7E73-4F95-4D68-9C2F-B2681B595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158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9D2B1-75BB-CDE7-A279-C4F68B0EC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F1CCE-8766-C893-DD03-B2A642B03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FC915-ADC9-6C7A-E41D-E392A6719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D3C2F-80B2-4BB9-BB40-96341B9D5028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15065-5744-1A8F-AC03-1F2F39C1F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39732-32A3-AAD4-FC42-A2ABAC064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7E73-4F95-4D68-9C2F-B2681B595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024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8C12-4CDB-D5FE-D957-95FF664A3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D9D95-D36A-3261-9580-FB141EC247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D1854F-D075-3EB2-5C91-C59BA4C53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2F644-67E2-C6A1-B913-CBF40F2F1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D3C2F-80B2-4BB9-BB40-96341B9D5028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D8DDD-245A-1C32-0C1A-222A87AA0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09C465-4CEF-CFEC-7660-F978ED645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7E73-4F95-4D68-9C2F-B2681B595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683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82C2D-88EB-03D0-CAF2-62D04FD36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A81F9-09B7-A4AD-22DA-0C23D8565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566A55-73D8-1408-1EC5-9B848159B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997103-6292-8D1A-800B-9B64E09CCC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710C2F-0A04-898E-8C6B-B0DC00FEED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42FC2D-0A31-0ECA-F05D-7FE03F293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D3C2F-80B2-4BB9-BB40-96341B9D5028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93F3BE-5944-EB7E-6F14-EA9732408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D06DA0-B3BC-5DC1-B992-4BACBD614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7E73-4F95-4D68-9C2F-B2681B595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59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54756-5D2B-D22B-517D-56A83CAC5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F03208-003A-3E79-E4D8-4BE08E1BB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D3C2F-80B2-4BB9-BB40-96341B9D5028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D59A6A-4727-12E0-9C11-D0A0075BD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8AD4A7-4B73-1BA0-0751-0E9FFA239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7E73-4F95-4D68-9C2F-B2681B595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5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0330D8-522F-3078-814B-1BE3FB15A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D3C2F-80B2-4BB9-BB40-96341B9D5028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8D24CC-6FE9-940C-8AC5-EF0EAF1BE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DDD1E-BF1F-91BB-A345-A9B2362C0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7E73-4F95-4D68-9C2F-B2681B595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6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F29CF-BE2F-535E-EAD8-EAC5DE1B5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4DAEC-78A3-9EF4-2BAF-5D75F3F7A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C0A32-7025-124B-80B6-976C0B768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D8916-02BF-8E9C-889F-5F51A09BE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D3C2F-80B2-4BB9-BB40-96341B9D5028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3C8FA-B4ED-F23B-F1DD-3D0ECC8E2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34236-63B4-4403-D287-F53E74302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7E73-4F95-4D68-9C2F-B2681B595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224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CE619-2B07-379B-7AD6-07099FFCF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C12645-BB37-3317-CFAA-38CBFFFEC7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A6AA9B-904F-ABE0-DAF3-708B52F5F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561B18-234B-85CE-3AFD-CB0030501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D3C2F-80B2-4BB9-BB40-96341B9D5028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F3D2B-4FA4-20F6-36DF-A52B152C0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97FF92-141B-052A-1AE8-969D1A078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7E73-4F95-4D68-9C2F-B2681B595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51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F8AA4-D478-ED80-13BA-5590BFBA3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B11971-11C2-C9FC-053E-F8818EEC6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BFC32-5ED4-2C7C-D553-3BB95D444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D3C2F-80B2-4BB9-BB40-96341B9D5028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04AB7-EB41-394F-A997-43FF792D6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0A08E-0CF2-DE99-C8CF-BE98D3E90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7E73-4F95-4D68-9C2F-B2681B595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033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A8269B-60A9-5FF7-C43D-CF887127D6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5911C2-1EC2-96B8-33C1-376EA3498E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16152-7F77-B765-7D43-A565D511E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D3C2F-80B2-4BB9-BB40-96341B9D5028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CBC4A-4D50-656B-E114-35069DF39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8ED00-62EA-A677-A3A9-4DD90FF19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A7E73-4F95-4D68-9C2F-B2681B595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641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612F6C-6132-7F59-B77B-B72A2D3CA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5573D-D333-E359-8361-118C0488E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1A3AC-7ACD-2D1B-0DA0-915890C956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8D3C2F-80B2-4BB9-BB40-96341B9D5028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61FA9-9A8E-FCC5-4A6E-B5877292E5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67185-47E1-1639-9B80-9B85DDAD1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A7E73-4F95-4D68-9C2F-B2681B5958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049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730AAD-1935-7BC3-C886-2FB26E1426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AE75FB-A724-F27F-65AD-72930987B1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958" y="0"/>
            <a:ext cx="6858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4DCF93-852C-E343-FED9-17CF785A33B3}"/>
              </a:ext>
            </a:extLst>
          </p:cNvPr>
          <p:cNvSpPr txBox="1"/>
          <p:nvPr/>
        </p:nvSpPr>
        <p:spPr>
          <a:xfrm>
            <a:off x="35092" y="5400387"/>
            <a:ext cx="91660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Clash Display Medium" pitchFamily="2" charset="0"/>
              </a:rPr>
              <a:t>Winter  </a:t>
            </a:r>
            <a:r>
              <a:rPr lang="en-US" sz="6000" dirty="0" err="1">
                <a:solidFill>
                  <a:schemeClr val="bg1"/>
                </a:solidFill>
                <a:latin typeface="Clash Display Medium" pitchFamily="2" charset="0"/>
              </a:rPr>
              <a:t>Spiti</a:t>
            </a:r>
            <a:r>
              <a:rPr lang="en-US" sz="6000" dirty="0">
                <a:solidFill>
                  <a:schemeClr val="bg1"/>
                </a:solidFill>
                <a:latin typeface="Clash Display Medium" pitchFamily="2" charset="0"/>
              </a:rPr>
              <a:t>  Itinerary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0058A4-008F-29D9-A81C-F17F2A727CC9}"/>
              </a:ext>
            </a:extLst>
          </p:cNvPr>
          <p:cNvSpPr txBox="1"/>
          <p:nvPr/>
        </p:nvSpPr>
        <p:spPr>
          <a:xfrm>
            <a:off x="51134" y="6256632"/>
            <a:ext cx="7170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23 Dec’ 26 – 03 Jan’ 27</a:t>
            </a:r>
          </a:p>
        </p:txBody>
      </p:sp>
    </p:spTree>
    <p:extLst>
      <p:ext uri="{BB962C8B-B14F-4D97-AF65-F5344CB8AC3E}">
        <p14:creationId xmlns:p14="http://schemas.microsoft.com/office/powerpoint/2010/main" val="4191352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EF6CD-9313-4F5B-6B15-88941CEC3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35238BA-E712-A255-1A25-FA72661C0E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82050A6-A110-D2C0-34B4-C1A35A01921D}"/>
              </a:ext>
            </a:extLst>
          </p:cNvPr>
          <p:cNvSpPr/>
          <p:nvPr/>
        </p:nvSpPr>
        <p:spPr>
          <a:xfrm>
            <a:off x="0" y="0"/>
            <a:ext cx="2758560" cy="1266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8DE1E6-4013-DDDB-6880-3FDE49A1D9AE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5406189" y="-1"/>
            <a:ext cx="6785811" cy="69193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93BD12C-FDA5-E176-2034-DB39084F60EC}"/>
              </a:ext>
            </a:extLst>
          </p:cNvPr>
          <p:cNvSpPr txBox="1"/>
          <p:nvPr/>
        </p:nvSpPr>
        <p:spPr>
          <a:xfrm>
            <a:off x="0" y="5926880"/>
            <a:ext cx="91660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Clash Display Medium" pitchFamily="2" charset="0"/>
              </a:rPr>
              <a:t>Route Map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C146B9-7D6D-7344-3BCD-D6D78CE0D0E3}"/>
              </a:ext>
            </a:extLst>
          </p:cNvPr>
          <p:cNvSpPr/>
          <p:nvPr/>
        </p:nvSpPr>
        <p:spPr>
          <a:xfrm>
            <a:off x="6183229" y="6296922"/>
            <a:ext cx="224589" cy="22458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BE20ED6-58C1-03EA-1C2C-BD6F79BA7920}"/>
              </a:ext>
            </a:extLst>
          </p:cNvPr>
          <p:cNvSpPr/>
          <p:nvPr/>
        </p:nvSpPr>
        <p:spPr>
          <a:xfrm>
            <a:off x="10209798" y="4211448"/>
            <a:ext cx="224589" cy="22458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367B695-40C3-64C8-5BE7-C52C0ECA508B}"/>
              </a:ext>
            </a:extLst>
          </p:cNvPr>
          <p:cNvSpPr/>
          <p:nvPr/>
        </p:nvSpPr>
        <p:spPr>
          <a:xfrm>
            <a:off x="10658977" y="1933469"/>
            <a:ext cx="224589" cy="22458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7E22920-9F58-C26F-936A-93A9B9E3EF83}"/>
              </a:ext>
            </a:extLst>
          </p:cNvPr>
          <p:cNvSpPr/>
          <p:nvPr/>
        </p:nvSpPr>
        <p:spPr>
          <a:xfrm>
            <a:off x="9471861" y="1388038"/>
            <a:ext cx="224589" cy="22458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919AC2F-A780-A7CF-37AA-D9FFFBF65970}"/>
              </a:ext>
            </a:extLst>
          </p:cNvPr>
          <p:cNvSpPr/>
          <p:nvPr/>
        </p:nvSpPr>
        <p:spPr>
          <a:xfrm>
            <a:off x="10883566" y="5276850"/>
            <a:ext cx="92804" cy="928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8309E1B-6CD6-5B42-E41B-B2B5881F7852}"/>
              </a:ext>
            </a:extLst>
          </p:cNvPr>
          <p:cNvSpPr/>
          <p:nvPr/>
        </p:nvSpPr>
        <p:spPr>
          <a:xfrm>
            <a:off x="11615086" y="3051810"/>
            <a:ext cx="92804" cy="928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498E0F4-8E64-A293-20BC-BDB80132DDD0}"/>
              </a:ext>
            </a:extLst>
          </p:cNvPr>
          <p:cNvSpPr/>
          <p:nvPr/>
        </p:nvSpPr>
        <p:spPr>
          <a:xfrm>
            <a:off x="9662929" y="1060652"/>
            <a:ext cx="92804" cy="928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61BBC1E-BBCE-494A-06F5-1F1FD6119E28}"/>
              </a:ext>
            </a:extLst>
          </p:cNvPr>
          <p:cNvSpPr/>
          <p:nvPr/>
        </p:nvSpPr>
        <p:spPr>
          <a:xfrm>
            <a:off x="9320169" y="556842"/>
            <a:ext cx="151692" cy="1516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2A03D00-96CE-4720-A724-2ED2B29B75CE}"/>
              </a:ext>
            </a:extLst>
          </p:cNvPr>
          <p:cNvSpPr/>
          <p:nvPr/>
        </p:nvSpPr>
        <p:spPr>
          <a:xfrm>
            <a:off x="8799094" y="4323742"/>
            <a:ext cx="92804" cy="928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BB61681-2625-03D8-534A-8241B82386DC}"/>
              </a:ext>
            </a:extLst>
          </p:cNvPr>
          <p:cNvCxnSpPr>
            <a:cxnSpLocks/>
            <a:stCxn id="12" idx="7"/>
            <a:endCxn id="21" idx="2"/>
          </p:cNvCxnSpPr>
          <p:nvPr/>
        </p:nvCxnSpPr>
        <p:spPr>
          <a:xfrm flipV="1">
            <a:off x="6374928" y="4370144"/>
            <a:ext cx="2424166" cy="1959668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C54EF11-0D8F-66AB-B43C-D3C56F8E937F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8891898" y="4323743"/>
            <a:ext cx="1317900" cy="46401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A646E92-4F0F-4B79-3CAE-8224F9873B15}"/>
              </a:ext>
            </a:extLst>
          </p:cNvPr>
          <p:cNvCxnSpPr>
            <a:cxnSpLocks/>
            <a:stCxn id="13" idx="7"/>
          </p:cNvCxnSpPr>
          <p:nvPr/>
        </p:nvCxnSpPr>
        <p:spPr>
          <a:xfrm flipV="1">
            <a:off x="10401497" y="3661586"/>
            <a:ext cx="946889" cy="582752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FA2DE08-4CCA-B729-6712-C837CABF50F4}"/>
              </a:ext>
            </a:extLst>
          </p:cNvPr>
          <p:cNvCxnSpPr>
            <a:cxnSpLocks/>
            <a:stCxn id="17" idx="1"/>
            <a:endCxn id="14" idx="5"/>
          </p:cNvCxnSpPr>
          <p:nvPr/>
        </p:nvCxnSpPr>
        <p:spPr>
          <a:xfrm flipH="1" flipV="1">
            <a:off x="10850676" y="2125168"/>
            <a:ext cx="778001" cy="940233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AA3B416-5B8B-7A89-3688-6363EC61F914}"/>
              </a:ext>
            </a:extLst>
          </p:cNvPr>
          <p:cNvCxnSpPr>
            <a:cxnSpLocks/>
            <a:stCxn id="14" idx="2"/>
          </p:cNvCxnSpPr>
          <p:nvPr/>
        </p:nvCxnSpPr>
        <p:spPr>
          <a:xfrm flipH="1" flipV="1">
            <a:off x="9696450" y="1587461"/>
            <a:ext cx="962527" cy="458303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FF88833-FA5B-3432-2E57-8BA16A369681}"/>
              </a:ext>
            </a:extLst>
          </p:cNvPr>
          <p:cNvCxnSpPr>
            <a:cxnSpLocks/>
          </p:cNvCxnSpPr>
          <p:nvPr/>
        </p:nvCxnSpPr>
        <p:spPr>
          <a:xfrm flipH="1" flipV="1">
            <a:off x="9722212" y="1118982"/>
            <a:ext cx="441184" cy="347060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170A22D-481C-4DD4-4EAC-CE24223B3682}"/>
              </a:ext>
            </a:extLst>
          </p:cNvPr>
          <p:cNvCxnSpPr>
            <a:cxnSpLocks/>
            <a:stCxn id="19" idx="4"/>
            <a:endCxn id="15" idx="0"/>
          </p:cNvCxnSpPr>
          <p:nvPr/>
        </p:nvCxnSpPr>
        <p:spPr>
          <a:xfrm flipH="1">
            <a:off x="9584156" y="1153456"/>
            <a:ext cx="125175" cy="234582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DCAC377-0859-49E0-D6C1-E985DBB7B467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9396015" y="708534"/>
            <a:ext cx="108736" cy="712394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ED43493-AD4A-76E5-B9BC-B6229BE88B36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10034588" y="4647413"/>
            <a:ext cx="862569" cy="643028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B0288428-9FAE-BD6B-35A0-6A7875A9568B}"/>
              </a:ext>
            </a:extLst>
          </p:cNvPr>
          <p:cNvSpPr/>
          <p:nvPr/>
        </p:nvSpPr>
        <p:spPr>
          <a:xfrm>
            <a:off x="9978440" y="4591265"/>
            <a:ext cx="112295" cy="112295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38B01C5-22F6-C552-ACE2-87D6C4E39A35}"/>
              </a:ext>
            </a:extLst>
          </p:cNvPr>
          <p:cNvCxnSpPr>
            <a:cxnSpLocks/>
            <a:stCxn id="13" idx="3"/>
            <a:endCxn id="57" idx="7"/>
          </p:cNvCxnSpPr>
          <p:nvPr/>
        </p:nvCxnSpPr>
        <p:spPr>
          <a:xfrm flipH="1">
            <a:off x="10074290" y="4403147"/>
            <a:ext cx="168398" cy="204563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CB8C3D5-479F-FA4F-0C28-279B0416C850}"/>
              </a:ext>
            </a:extLst>
          </p:cNvPr>
          <p:cNvCxnSpPr>
            <a:cxnSpLocks/>
            <a:endCxn id="65" idx="6"/>
          </p:cNvCxnSpPr>
          <p:nvPr/>
        </p:nvCxnSpPr>
        <p:spPr>
          <a:xfrm flipH="1" flipV="1">
            <a:off x="8100017" y="669137"/>
            <a:ext cx="1371844" cy="750503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64EB9770-BE0C-14F6-8C95-6D92AC190C67}"/>
              </a:ext>
            </a:extLst>
          </p:cNvPr>
          <p:cNvSpPr/>
          <p:nvPr/>
        </p:nvSpPr>
        <p:spPr>
          <a:xfrm>
            <a:off x="7875428" y="556842"/>
            <a:ext cx="224589" cy="22458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99FC9A5-4952-9AAE-3C60-229D7EB89387}"/>
              </a:ext>
            </a:extLst>
          </p:cNvPr>
          <p:cNvSpPr/>
          <p:nvPr/>
        </p:nvSpPr>
        <p:spPr>
          <a:xfrm>
            <a:off x="170974" y="217501"/>
            <a:ext cx="151693" cy="15169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66C8731-31BD-DC09-11C5-C1D98FD749C5}"/>
              </a:ext>
            </a:extLst>
          </p:cNvPr>
          <p:cNvSpPr txBox="1"/>
          <p:nvPr/>
        </p:nvSpPr>
        <p:spPr>
          <a:xfrm>
            <a:off x="378313" y="107418"/>
            <a:ext cx="9166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lash Display Light" pitchFamily="2" charset="0"/>
              </a:rPr>
              <a:t>Places to halt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421ED0CF-DBA4-520C-C7AF-37FC339CA2C4}"/>
              </a:ext>
            </a:extLst>
          </p:cNvPr>
          <p:cNvSpPr/>
          <p:nvPr/>
        </p:nvSpPr>
        <p:spPr>
          <a:xfrm>
            <a:off x="170974" y="774039"/>
            <a:ext cx="151693" cy="1516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73E98B0-7928-BD13-F053-5A71C4CB4F3A}"/>
              </a:ext>
            </a:extLst>
          </p:cNvPr>
          <p:cNvSpPr txBox="1"/>
          <p:nvPr/>
        </p:nvSpPr>
        <p:spPr>
          <a:xfrm>
            <a:off x="378313" y="658306"/>
            <a:ext cx="9166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lash Display Light" pitchFamily="2" charset="0"/>
              </a:rPr>
              <a:t>De-tour / in-transit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DC27BEA4-68BF-BAA2-C73F-523DF438D2BF}"/>
              </a:ext>
            </a:extLst>
          </p:cNvPr>
          <p:cNvSpPr/>
          <p:nvPr/>
        </p:nvSpPr>
        <p:spPr>
          <a:xfrm>
            <a:off x="10476654" y="1627477"/>
            <a:ext cx="92804" cy="928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EFA9052-3110-2D34-211B-AC5BC98E06BE}"/>
              </a:ext>
            </a:extLst>
          </p:cNvPr>
          <p:cNvCxnSpPr>
            <a:cxnSpLocks/>
            <a:endCxn id="76" idx="3"/>
          </p:cNvCxnSpPr>
          <p:nvPr/>
        </p:nvCxnSpPr>
        <p:spPr>
          <a:xfrm flipV="1">
            <a:off x="10404786" y="1706690"/>
            <a:ext cx="85459" cy="159112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7809F43D-3546-8EE1-10BD-78DE9F2621B8}"/>
              </a:ext>
            </a:extLst>
          </p:cNvPr>
          <p:cNvSpPr/>
          <p:nvPr/>
        </p:nvSpPr>
        <p:spPr>
          <a:xfrm>
            <a:off x="11348386" y="3601672"/>
            <a:ext cx="92804" cy="928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B1413C5-BA22-8615-C65A-166E47382566}"/>
              </a:ext>
            </a:extLst>
          </p:cNvPr>
          <p:cNvCxnSpPr>
            <a:cxnSpLocks/>
            <a:stCxn id="17" idx="4"/>
            <a:endCxn id="81" idx="7"/>
          </p:cNvCxnSpPr>
          <p:nvPr/>
        </p:nvCxnSpPr>
        <p:spPr>
          <a:xfrm flipH="1">
            <a:off x="11427599" y="3144614"/>
            <a:ext cx="233889" cy="470649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6763CC3B-AF65-11B0-0FE6-317EB669A462}"/>
              </a:ext>
            </a:extLst>
          </p:cNvPr>
          <p:cNvSpPr txBox="1"/>
          <p:nvPr/>
        </p:nvSpPr>
        <p:spPr>
          <a:xfrm>
            <a:off x="8247882" y="4046742"/>
            <a:ext cx="1371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  <a:latin typeface="Clash Display Semibold" pitchFamily="2" charset="0"/>
              </a:rPr>
              <a:t>Kinnaur gate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E12232B-FA94-4183-ACD9-6A5EFA328C2E}"/>
              </a:ext>
            </a:extLst>
          </p:cNvPr>
          <p:cNvSpPr txBox="1"/>
          <p:nvPr/>
        </p:nvSpPr>
        <p:spPr>
          <a:xfrm>
            <a:off x="10923902" y="5211478"/>
            <a:ext cx="1371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C00000"/>
                </a:solidFill>
                <a:latin typeface="Clash Display Semibold" pitchFamily="2" charset="0"/>
              </a:rPr>
              <a:t>Chitkul</a:t>
            </a:r>
            <a:endParaRPr lang="en-US" sz="1200" dirty="0">
              <a:solidFill>
                <a:srgbClr val="C00000"/>
              </a:solidFill>
              <a:latin typeface="Clash Display Semibold" pitchFamily="2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5A49DCA-920B-F298-861F-880BC4B38772}"/>
              </a:ext>
            </a:extLst>
          </p:cNvPr>
          <p:cNvSpPr txBox="1"/>
          <p:nvPr/>
        </p:nvSpPr>
        <p:spPr>
          <a:xfrm>
            <a:off x="9902342" y="3960094"/>
            <a:ext cx="1371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  <a:latin typeface="Clash Display Semibold" pitchFamily="2" charset="0"/>
              </a:rPr>
              <a:t>Kalpa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247665D-FEC5-9565-AA39-DE12A6A9C4DB}"/>
              </a:ext>
            </a:extLst>
          </p:cNvPr>
          <p:cNvSpPr txBox="1"/>
          <p:nvPr/>
        </p:nvSpPr>
        <p:spPr>
          <a:xfrm>
            <a:off x="9727345" y="3441762"/>
            <a:ext cx="16842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 err="1">
                <a:solidFill>
                  <a:srgbClr val="C00000"/>
                </a:solidFill>
                <a:latin typeface="Clash Display Semibold" pitchFamily="2" charset="0"/>
              </a:rPr>
              <a:t>Khab</a:t>
            </a:r>
            <a:r>
              <a:rPr lang="en-US" sz="1200" dirty="0">
                <a:solidFill>
                  <a:srgbClr val="C00000"/>
                </a:solidFill>
                <a:latin typeface="Clash Display Semibold" pitchFamily="2" charset="0"/>
              </a:rPr>
              <a:t> Sangam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9234F5A-7C5D-7B05-9762-73B18767D80E}"/>
              </a:ext>
            </a:extLst>
          </p:cNvPr>
          <p:cNvSpPr txBox="1"/>
          <p:nvPr/>
        </p:nvSpPr>
        <p:spPr>
          <a:xfrm>
            <a:off x="10919696" y="2959712"/>
            <a:ext cx="7089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C00000"/>
                </a:solidFill>
                <a:latin typeface="Clash Display Semibold" pitchFamily="2" charset="0"/>
              </a:rPr>
              <a:t>Nako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6A7A344-BC61-6DF2-9305-7FA7A4D1A224}"/>
              </a:ext>
            </a:extLst>
          </p:cNvPr>
          <p:cNvSpPr txBox="1"/>
          <p:nvPr/>
        </p:nvSpPr>
        <p:spPr>
          <a:xfrm>
            <a:off x="10517363" y="1406920"/>
            <a:ext cx="18436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C00000"/>
                </a:solidFill>
                <a:latin typeface="Clash Display Semibold" pitchFamily="2" charset="0"/>
              </a:rPr>
              <a:t>Dhankar</a:t>
            </a:r>
            <a:r>
              <a:rPr lang="en-US" sz="1200" dirty="0">
                <a:solidFill>
                  <a:srgbClr val="C00000"/>
                </a:solidFill>
                <a:latin typeface="Clash Display Semibold" pitchFamily="2" charset="0"/>
              </a:rPr>
              <a:t> monastery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440AAACA-2AFA-CC8D-2072-22E0FE4428B2}"/>
              </a:ext>
            </a:extLst>
          </p:cNvPr>
          <p:cNvSpPr/>
          <p:nvPr/>
        </p:nvSpPr>
        <p:spPr>
          <a:xfrm>
            <a:off x="9375666" y="849564"/>
            <a:ext cx="92804" cy="928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A3F2A2D-4D73-8DA5-4CD3-8C8A240FBF94}"/>
              </a:ext>
            </a:extLst>
          </p:cNvPr>
          <p:cNvSpPr txBox="1"/>
          <p:nvPr/>
        </p:nvSpPr>
        <p:spPr>
          <a:xfrm>
            <a:off x="10074290" y="1176474"/>
            <a:ext cx="18436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C00000"/>
                </a:solidFill>
                <a:latin typeface="Clash Display Semibold" pitchFamily="2" charset="0"/>
              </a:rPr>
              <a:t>Komic</a:t>
            </a:r>
            <a:endParaRPr lang="en-US" sz="1200" dirty="0">
              <a:solidFill>
                <a:srgbClr val="C00000"/>
              </a:solidFill>
              <a:latin typeface="Clash Display Semibold" pitchFamily="2" charset="0"/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62F3C399-CC30-71B8-9445-8B2EB3993C40}"/>
              </a:ext>
            </a:extLst>
          </p:cNvPr>
          <p:cNvSpPr/>
          <p:nvPr/>
        </p:nvSpPr>
        <p:spPr>
          <a:xfrm>
            <a:off x="10116994" y="1424871"/>
            <a:ext cx="92804" cy="928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F1CD650-601A-757F-CF3F-9CAC2A7DC8F6}"/>
              </a:ext>
            </a:extLst>
          </p:cNvPr>
          <p:cNvSpPr txBox="1"/>
          <p:nvPr/>
        </p:nvSpPr>
        <p:spPr>
          <a:xfrm>
            <a:off x="9731239" y="911467"/>
            <a:ext cx="18436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C00000"/>
                </a:solidFill>
                <a:latin typeface="Clash Display Semibold" pitchFamily="2" charset="0"/>
              </a:rPr>
              <a:t>Langza</a:t>
            </a:r>
            <a:endParaRPr lang="en-US" sz="1200" dirty="0">
              <a:solidFill>
                <a:srgbClr val="C00000"/>
              </a:solidFill>
              <a:latin typeface="Clash Display Semibold" pitchFamily="2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52D7C60-F26A-1E26-F53D-7A92A7BB62E6}"/>
              </a:ext>
            </a:extLst>
          </p:cNvPr>
          <p:cNvSpPr txBox="1"/>
          <p:nvPr/>
        </p:nvSpPr>
        <p:spPr>
          <a:xfrm>
            <a:off x="9400274" y="465622"/>
            <a:ext cx="18436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C00000"/>
                </a:solidFill>
                <a:latin typeface="Clash Display Semibold" pitchFamily="2" charset="0"/>
              </a:rPr>
              <a:t>Chicham</a:t>
            </a:r>
            <a:r>
              <a:rPr lang="en-US" sz="1200" dirty="0">
                <a:solidFill>
                  <a:srgbClr val="C00000"/>
                </a:solidFill>
                <a:latin typeface="Clash Display Semibold" pitchFamily="2" charset="0"/>
              </a:rPr>
              <a:t> bridge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FA7FA78-59F8-3D94-B838-8BA37883F84C}"/>
              </a:ext>
            </a:extLst>
          </p:cNvPr>
          <p:cNvSpPr txBox="1"/>
          <p:nvPr/>
        </p:nvSpPr>
        <p:spPr>
          <a:xfrm>
            <a:off x="8489206" y="718606"/>
            <a:ext cx="1484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  <a:latin typeface="Clash Display Semibold" pitchFamily="2" charset="0"/>
              </a:rPr>
              <a:t>Ke </a:t>
            </a:r>
            <a:r>
              <a:rPr lang="en-US" sz="1200" dirty="0" err="1">
                <a:solidFill>
                  <a:srgbClr val="C00000"/>
                </a:solidFill>
                <a:latin typeface="Clash Display Semibold" pitchFamily="2" charset="0"/>
              </a:rPr>
              <a:t>Mnstry</a:t>
            </a:r>
            <a:endParaRPr lang="en-US" sz="1200" dirty="0">
              <a:solidFill>
                <a:srgbClr val="C00000"/>
              </a:solidFill>
              <a:latin typeface="Clash Display Semibold" pitchFamily="2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83C2062-4F4A-015B-2191-D4A0B641DC64}"/>
              </a:ext>
            </a:extLst>
          </p:cNvPr>
          <p:cNvSpPr txBox="1"/>
          <p:nvPr/>
        </p:nvSpPr>
        <p:spPr>
          <a:xfrm>
            <a:off x="10124865" y="2000119"/>
            <a:ext cx="5909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  <a:latin typeface="Clash Display Semibold" pitchFamily="2" charset="0"/>
              </a:rPr>
              <a:t>Tabo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91824D9-67D6-F199-410F-8AF0D41A3BEC}"/>
              </a:ext>
            </a:extLst>
          </p:cNvPr>
          <p:cNvSpPr txBox="1"/>
          <p:nvPr/>
        </p:nvSpPr>
        <p:spPr>
          <a:xfrm>
            <a:off x="8992674" y="1476684"/>
            <a:ext cx="5667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  <a:latin typeface="Clash Display Semibold" pitchFamily="2" charset="0"/>
              </a:rPr>
              <a:t>Kaza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A3A6814-3B92-E2E7-0559-F65260C6F04C}"/>
              </a:ext>
            </a:extLst>
          </p:cNvPr>
          <p:cNvSpPr txBox="1"/>
          <p:nvPr/>
        </p:nvSpPr>
        <p:spPr>
          <a:xfrm>
            <a:off x="6727806" y="543248"/>
            <a:ext cx="12308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C00000"/>
                </a:solidFill>
                <a:latin typeface="Clash Display Semibold" pitchFamily="2" charset="0"/>
              </a:rPr>
              <a:t>Kunzum</a:t>
            </a:r>
            <a:r>
              <a:rPr lang="en-US" sz="1200" dirty="0">
                <a:solidFill>
                  <a:srgbClr val="C00000"/>
                </a:solidFill>
                <a:latin typeface="Clash Display Semibold" pitchFamily="2" charset="0"/>
              </a:rPr>
              <a:t> Pass</a:t>
            </a: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8712A0B1-F289-E5D2-FFC3-AC6FA585DADA}"/>
              </a:ext>
            </a:extLst>
          </p:cNvPr>
          <p:cNvCxnSpPr>
            <a:cxnSpLocks/>
            <a:stCxn id="12" idx="0"/>
            <a:endCxn id="120" idx="4"/>
          </p:cNvCxnSpPr>
          <p:nvPr/>
        </p:nvCxnSpPr>
        <p:spPr>
          <a:xfrm flipV="1">
            <a:off x="6295524" y="2603794"/>
            <a:ext cx="529168" cy="3693128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109D478D-13DA-8B4A-2F77-502A6951B52C}"/>
              </a:ext>
            </a:extLst>
          </p:cNvPr>
          <p:cNvSpPr/>
          <p:nvPr/>
        </p:nvSpPr>
        <p:spPr>
          <a:xfrm>
            <a:off x="6712397" y="2379205"/>
            <a:ext cx="224589" cy="22458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4899F51-A9E7-4A2F-461D-73EA7152ADEF}"/>
              </a:ext>
            </a:extLst>
          </p:cNvPr>
          <p:cNvSpPr txBox="1"/>
          <p:nvPr/>
        </p:nvSpPr>
        <p:spPr>
          <a:xfrm>
            <a:off x="6794327" y="2515594"/>
            <a:ext cx="1371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  <a:latin typeface="Clash Display Semibold" pitchFamily="2" charset="0"/>
              </a:rPr>
              <a:t>Kasol</a:t>
            </a:r>
            <a:endParaRPr lang="en-US" dirty="0">
              <a:solidFill>
                <a:srgbClr val="C00000"/>
              </a:solidFill>
              <a:latin typeface="Clash Display Semibold" pitchFamily="2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4AA2CFC-247F-AB3A-0B9C-05D2D6B8A1CC}"/>
              </a:ext>
            </a:extLst>
          </p:cNvPr>
          <p:cNvSpPr txBox="1"/>
          <p:nvPr/>
        </p:nvSpPr>
        <p:spPr>
          <a:xfrm>
            <a:off x="5939297" y="6504292"/>
            <a:ext cx="1371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Clash Display Semibold" pitchFamily="2" charset="0"/>
              </a:rPr>
              <a:t>Shimla</a:t>
            </a:r>
          </a:p>
        </p:txBody>
      </p:sp>
    </p:spTree>
    <p:extLst>
      <p:ext uri="{BB962C8B-B14F-4D97-AF65-F5344CB8AC3E}">
        <p14:creationId xmlns:p14="http://schemas.microsoft.com/office/powerpoint/2010/main" val="914346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08199-D9B8-4BFF-CCBA-84566BC46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6F3622B-373A-1A52-B73D-8989C4B40A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B82A493-259F-F14F-DD8A-CA7ED7FDD7BE}"/>
              </a:ext>
            </a:extLst>
          </p:cNvPr>
          <p:cNvSpPr/>
          <p:nvPr/>
        </p:nvSpPr>
        <p:spPr>
          <a:xfrm>
            <a:off x="0" y="1"/>
            <a:ext cx="2758560" cy="1015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743BDE-A8FE-6053-BEFC-B64B3401D0A0}"/>
              </a:ext>
            </a:extLst>
          </p:cNvPr>
          <p:cNvSpPr txBox="1"/>
          <p:nvPr/>
        </p:nvSpPr>
        <p:spPr>
          <a:xfrm>
            <a:off x="0" y="6331863"/>
            <a:ext cx="9166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lash Display Medium" pitchFamily="2" charset="0"/>
              </a:rPr>
              <a:t>Day-wise itinerary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404BA1-DF00-9E97-E60F-06197B137CBE}"/>
              </a:ext>
            </a:extLst>
          </p:cNvPr>
          <p:cNvSpPr txBox="1"/>
          <p:nvPr/>
        </p:nvSpPr>
        <p:spPr>
          <a:xfrm>
            <a:off x="0" y="0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lash Display Medium" pitchFamily="2" charset="0"/>
              </a:rPr>
              <a:t>Day  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E8228E-456A-CD2D-9B9B-F81F2D4101F5}"/>
              </a:ext>
            </a:extLst>
          </p:cNvPr>
          <p:cNvSpPr txBox="1"/>
          <p:nvPr/>
        </p:nvSpPr>
        <p:spPr>
          <a:xfrm>
            <a:off x="0" y="323166"/>
            <a:ext cx="2758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lash Display Light" pitchFamily="2" charset="0"/>
              </a:rPr>
              <a:t>23 Dec’ 26</a:t>
            </a:r>
          </a:p>
          <a:p>
            <a:r>
              <a:rPr lang="en-US" dirty="0">
                <a:latin typeface="Clash Display Light" pitchFamily="2" charset="0"/>
              </a:rPr>
              <a:t>Pune to Delhi (Train)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DC3D57-F02E-6965-F120-894F8F2863B1}"/>
              </a:ext>
            </a:extLst>
          </p:cNvPr>
          <p:cNvSpPr/>
          <p:nvPr/>
        </p:nvSpPr>
        <p:spPr>
          <a:xfrm>
            <a:off x="9433440" y="5885587"/>
            <a:ext cx="2758560" cy="1015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927A34-E2B5-6383-C2A9-7C27A63B4525}"/>
              </a:ext>
            </a:extLst>
          </p:cNvPr>
          <p:cNvSpPr txBox="1"/>
          <p:nvPr/>
        </p:nvSpPr>
        <p:spPr>
          <a:xfrm>
            <a:off x="9433440" y="5885586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 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4D6798-CE1A-800A-DF77-233AEB5A48FE}"/>
              </a:ext>
            </a:extLst>
          </p:cNvPr>
          <p:cNvSpPr txBox="1"/>
          <p:nvPr/>
        </p:nvSpPr>
        <p:spPr>
          <a:xfrm>
            <a:off x="9433440" y="6208752"/>
            <a:ext cx="2758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23 Dec’ 26</a:t>
            </a:r>
          </a:p>
          <a:p>
            <a:pPr algn="r"/>
            <a:r>
              <a:rPr lang="en-US" dirty="0">
                <a:latin typeface="Clash Display Light" pitchFamily="2" charset="0"/>
              </a:rPr>
              <a:t>Mumbai to Delhi (Train)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742D95-390A-114A-5930-2A9C18D23F0F}"/>
              </a:ext>
            </a:extLst>
          </p:cNvPr>
          <p:cNvSpPr txBox="1"/>
          <p:nvPr/>
        </p:nvSpPr>
        <p:spPr>
          <a:xfrm>
            <a:off x="0" y="1077220"/>
            <a:ext cx="2000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lash Display Medium" pitchFamily="2" charset="0"/>
              </a:rPr>
              <a:t>3 trains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5DB060-AE27-1655-C0B9-AD08334382C6}"/>
              </a:ext>
            </a:extLst>
          </p:cNvPr>
          <p:cNvSpPr txBox="1"/>
          <p:nvPr/>
        </p:nvSpPr>
        <p:spPr>
          <a:xfrm>
            <a:off x="0" y="1638540"/>
            <a:ext cx="53149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01.  Goa Exp (12779)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Pune – 4.30 am,  NZM -  6.25 am (24 Dec)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02. 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Sampark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Kranti (12629)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Pune  - 9.00 am,  NZM – 11.40 am  (24 Dec)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03. Jhelum Exp (11077)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Pune – 05.20 pm, NZM – 08.50 pm (24 Dec)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089D30-1867-5993-A1EF-3747D3622BD8}"/>
              </a:ext>
            </a:extLst>
          </p:cNvPr>
          <p:cNvSpPr txBox="1"/>
          <p:nvPr/>
        </p:nvSpPr>
        <p:spPr>
          <a:xfrm>
            <a:off x="0" y="4531104"/>
            <a:ext cx="53149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Lesser options, probability of getting confirmed tix decreases.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Travel expenses PP – </a:t>
            </a:r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2650/-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976836E-79FC-D881-8D4B-D63ABBB312AB}"/>
              </a:ext>
            </a:extLst>
          </p:cNvPr>
          <p:cNvCxnSpPr/>
          <p:nvPr/>
        </p:nvCxnSpPr>
        <p:spPr>
          <a:xfrm>
            <a:off x="5314950" y="323164"/>
            <a:ext cx="0" cy="6208753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DD73508-E78B-85C7-842C-A5AAB9115023}"/>
              </a:ext>
            </a:extLst>
          </p:cNvPr>
          <p:cNvSpPr txBox="1"/>
          <p:nvPr/>
        </p:nvSpPr>
        <p:spPr>
          <a:xfrm>
            <a:off x="10629901" y="-15387"/>
            <a:ext cx="2000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lash Display Medium" pitchFamily="2" charset="0"/>
              </a:rPr>
              <a:t>9 trains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989E86-14F6-55DC-17C5-583C09460879}"/>
              </a:ext>
            </a:extLst>
          </p:cNvPr>
          <p:cNvSpPr txBox="1"/>
          <p:nvPr/>
        </p:nvSpPr>
        <p:spPr>
          <a:xfrm>
            <a:off x="5497770" y="603082"/>
            <a:ext cx="531495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01.  Paschim Exp (12925)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BDTS – 11.30 am,  NZM -  10.00 am (24 Dec)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02.  DEE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Garibrath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(12216)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BDTS  - 12.00 pm,  DEE– 11.00 am  (24 Dec)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03.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Mangladweep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Exp (12617)</a:t>
            </a:r>
          </a:p>
          <a:p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Panvel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– 12.30 pm, NZM – 01.35 pm (24 Dec)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04. BDTS HW SF Exp (22917)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BDTS – 12.45 pm, NZM – 08.35 am (24 Dec)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05. BDTS DEE SF Exp (22949)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BDTS – 2.45 pm, DEE – 11.45 am (24 Dec)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06. BDTS SMPRK K Exp (12907)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BDTS – 5.30 pm, NZM – 10.15 am (24 Dec)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492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A0771-F21B-E996-A87B-F58144DF3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67A3EB2-E3B4-93C0-5503-1D13F1B05A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9DACFD-A8C2-7768-F0F3-893533395D3B}"/>
              </a:ext>
            </a:extLst>
          </p:cNvPr>
          <p:cNvSpPr txBox="1"/>
          <p:nvPr/>
        </p:nvSpPr>
        <p:spPr>
          <a:xfrm>
            <a:off x="0" y="6331863"/>
            <a:ext cx="9166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lash Display Medium" pitchFamily="2" charset="0"/>
              </a:rPr>
              <a:t>Day-wise itinerary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1B8359-0B37-1145-B1E4-AB854D2BEC5A}"/>
              </a:ext>
            </a:extLst>
          </p:cNvPr>
          <p:cNvSpPr/>
          <p:nvPr/>
        </p:nvSpPr>
        <p:spPr>
          <a:xfrm>
            <a:off x="9433440" y="5885587"/>
            <a:ext cx="2758560" cy="1015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BEC9AE-B287-A13A-BE69-AE796157FFDA}"/>
              </a:ext>
            </a:extLst>
          </p:cNvPr>
          <p:cNvSpPr txBox="1"/>
          <p:nvPr/>
        </p:nvSpPr>
        <p:spPr>
          <a:xfrm>
            <a:off x="9433440" y="5885586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 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7E4A74-EFA0-0A54-253E-6D40233A8094}"/>
              </a:ext>
            </a:extLst>
          </p:cNvPr>
          <p:cNvSpPr txBox="1"/>
          <p:nvPr/>
        </p:nvSpPr>
        <p:spPr>
          <a:xfrm>
            <a:off x="9433440" y="6208752"/>
            <a:ext cx="2758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23 Dec’ 26</a:t>
            </a:r>
          </a:p>
          <a:p>
            <a:pPr algn="r"/>
            <a:r>
              <a:rPr lang="en-US" dirty="0">
                <a:latin typeface="Clash Display Light" pitchFamily="2" charset="0"/>
              </a:rPr>
              <a:t>Mumbai to Delhi (Train)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08F6B3-EB38-D8BE-E315-2C0CE3A4F0EC}"/>
              </a:ext>
            </a:extLst>
          </p:cNvPr>
          <p:cNvSpPr txBox="1"/>
          <p:nvPr/>
        </p:nvSpPr>
        <p:spPr>
          <a:xfrm>
            <a:off x="201870" y="516136"/>
            <a:ext cx="531495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07.  Golden Temple Exp (12903)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BDTS – 6.43 pm,  NZM -  1.50 pm (24 Dec)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08.  Punjab Mail (12137)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CSTM  - 7.35 pm,  NZM– 8.55 pm (24 Dec)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09. Goa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Smpark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K Exp (12449)</a:t>
            </a:r>
          </a:p>
          <a:p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Panvel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– 7.40 pm, NZM – 01.40 pm (24 Dec)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A4DE36-CE03-B69D-71BE-9AA506AD24FD}"/>
              </a:ext>
            </a:extLst>
          </p:cNvPr>
          <p:cNvSpPr txBox="1"/>
          <p:nvPr/>
        </p:nvSpPr>
        <p:spPr>
          <a:xfrm>
            <a:off x="201870" y="3550519"/>
            <a:ext cx="531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Station Codes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EF5DF7-2B63-5835-C8E7-2C3EB237721A}"/>
              </a:ext>
            </a:extLst>
          </p:cNvPr>
          <p:cNvSpPr txBox="1"/>
          <p:nvPr/>
        </p:nvSpPr>
        <p:spPr>
          <a:xfrm>
            <a:off x="201870" y="4002316"/>
            <a:ext cx="53149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BDTS – Bandra Terminus</a:t>
            </a:r>
          </a:p>
          <a:p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DEE – Delhi Sarai </a:t>
            </a:r>
            <a:r>
              <a:rPr lang="en-US" dirty="0" err="1">
                <a:solidFill>
                  <a:schemeClr val="bg1"/>
                </a:solidFill>
                <a:latin typeface="Clash Display Semibold" pitchFamily="2" charset="0"/>
              </a:rPr>
              <a:t>Rohilla</a:t>
            </a:r>
            <a:endParaRPr lang="en-US" dirty="0">
              <a:solidFill>
                <a:schemeClr val="bg1"/>
              </a:solidFill>
              <a:latin typeface="Clash Display Semibold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NZM – Hazrat Nizamuddin</a:t>
            </a:r>
          </a:p>
          <a:p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CSTM – Chhatrapati Shivaji Maharaj Terminal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51108D-37A7-AF10-C1A0-5F17BEC101D0}"/>
              </a:ext>
            </a:extLst>
          </p:cNvPr>
          <p:cNvSpPr txBox="1"/>
          <p:nvPr/>
        </p:nvSpPr>
        <p:spPr>
          <a:xfrm>
            <a:off x="6675180" y="472885"/>
            <a:ext cx="53149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More options, probability of getting confirmed tix increases.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Apart from Punjab Mail, the timings of all other trains are perfect,. In case of delays, we still have a buffer to freshen up, eat properly and then go to Majnu ka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tila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to catch our bus to Shimla.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Additional travel – Pune to Mumbai (Downside)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Travel expenses PP – </a:t>
            </a:r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3000/- to 3200/- 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basis the train selection (2AC + Travel to Mumbai). Maximum trains have a fare of 2350/- for 2AC</a:t>
            </a:r>
          </a:p>
        </p:txBody>
      </p:sp>
    </p:spTree>
    <p:extLst>
      <p:ext uri="{BB962C8B-B14F-4D97-AF65-F5344CB8AC3E}">
        <p14:creationId xmlns:p14="http://schemas.microsoft.com/office/powerpoint/2010/main" val="1757879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56D95-2D15-3960-46CE-CF136C78B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18CB31C-A54D-E541-FF22-EC9288C708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C1B5FA1-63DD-B5AD-A312-7AF8B704FF78}"/>
              </a:ext>
            </a:extLst>
          </p:cNvPr>
          <p:cNvSpPr/>
          <p:nvPr/>
        </p:nvSpPr>
        <p:spPr>
          <a:xfrm>
            <a:off x="9433440" y="5842336"/>
            <a:ext cx="2758560" cy="1015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E14F33-7EBB-4AC2-5E0B-D3A59099DD4D}"/>
              </a:ext>
            </a:extLst>
          </p:cNvPr>
          <p:cNvSpPr txBox="1"/>
          <p:nvPr/>
        </p:nvSpPr>
        <p:spPr>
          <a:xfrm>
            <a:off x="0" y="6331863"/>
            <a:ext cx="9166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lash Display Medium" pitchFamily="2" charset="0"/>
              </a:rPr>
              <a:t>Day-wise itinerary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6CD449-012B-C4DD-DC49-A69999C13190}"/>
              </a:ext>
            </a:extLst>
          </p:cNvPr>
          <p:cNvSpPr txBox="1"/>
          <p:nvPr/>
        </p:nvSpPr>
        <p:spPr>
          <a:xfrm>
            <a:off x="9433440" y="5842335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2D5D94-D90C-A15F-7D4C-6BD9485B6CAD}"/>
              </a:ext>
            </a:extLst>
          </p:cNvPr>
          <p:cNvSpPr txBox="1"/>
          <p:nvPr/>
        </p:nvSpPr>
        <p:spPr>
          <a:xfrm>
            <a:off x="9433440" y="6165501"/>
            <a:ext cx="2758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24 Dec’ 26</a:t>
            </a:r>
          </a:p>
          <a:p>
            <a:pPr algn="r"/>
            <a:r>
              <a:rPr lang="en-US" dirty="0">
                <a:latin typeface="Clash Display Light" pitchFamily="2" charset="0"/>
              </a:rPr>
              <a:t>Delhi to Shimla (Bus)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5DE1D4-C596-40C9-C3B6-D00942C601D7}"/>
              </a:ext>
            </a:extLst>
          </p:cNvPr>
          <p:cNvSpPr txBox="1"/>
          <p:nvPr/>
        </p:nvSpPr>
        <p:spPr>
          <a:xfrm>
            <a:off x="133350" y="384667"/>
            <a:ext cx="12573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Delhi to Shimla Bus </a:t>
            </a: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Delhi pick up point – Majnu ka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tila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/ ISBT Kashmere gate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Pick up time – 9.00 pm to 11.40 pm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Shimla drop off point – MC Car parking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Drop off time – 5.00 am to 8.30 am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Travel agency with good reviews –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Ram Dalal holidays  &amp; Flix Bus (rest do not have a good rating)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Travel Expense PP – </a:t>
            </a:r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2000/- to 2500/-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Flix Bus (10.00 pm fare as of 19 Oct was </a:t>
            </a:r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1750/- 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). Also, they had a flat 15% off coupon.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Additional expenses of travel &amp; food in Delhi PP – </a:t>
            </a:r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1000/- to 1200/-  (tentatively)</a:t>
            </a: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000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CE489-9CF8-05CD-60B8-6E771DD05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A9AF9C5-9746-2A14-1536-611D864B316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3F2A71D-6C3E-2489-59AB-79A0CED0876F}"/>
              </a:ext>
            </a:extLst>
          </p:cNvPr>
          <p:cNvSpPr/>
          <p:nvPr/>
        </p:nvSpPr>
        <p:spPr>
          <a:xfrm>
            <a:off x="9321800" y="5842334"/>
            <a:ext cx="2870200" cy="1015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CBFE75-4479-C667-1715-57243E4FC388}"/>
              </a:ext>
            </a:extLst>
          </p:cNvPr>
          <p:cNvSpPr txBox="1"/>
          <p:nvPr/>
        </p:nvSpPr>
        <p:spPr>
          <a:xfrm>
            <a:off x="57150" y="6274713"/>
            <a:ext cx="3467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lash Display Medium" pitchFamily="2" charset="0"/>
              </a:rPr>
              <a:t>Day-wise itinerary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3C4233-D4EB-9B03-D862-80671DE33B91}"/>
              </a:ext>
            </a:extLst>
          </p:cNvPr>
          <p:cNvSpPr txBox="1"/>
          <p:nvPr/>
        </p:nvSpPr>
        <p:spPr>
          <a:xfrm>
            <a:off x="9433440" y="5842335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0A75D4-769F-AB63-5804-6C09070A1CC3}"/>
              </a:ext>
            </a:extLst>
          </p:cNvPr>
          <p:cNvSpPr txBox="1"/>
          <p:nvPr/>
        </p:nvSpPr>
        <p:spPr>
          <a:xfrm>
            <a:off x="3303510" y="6007085"/>
            <a:ext cx="3169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Clash Display Semibold" pitchFamily="2" charset="0"/>
              </a:rPr>
              <a:t>/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EA900C-11BA-94B0-0FD6-107795926610}"/>
              </a:ext>
            </a:extLst>
          </p:cNvPr>
          <p:cNvSpPr txBox="1"/>
          <p:nvPr/>
        </p:nvSpPr>
        <p:spPr>
          <a:xfrm>
            <a:off x="9187712" y="6165501"/>
            <a:ext cx="3029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25 Dec’ 26</a:t>
            </a:r>
          </a:p>
          <a:p>
            <a:pPr algn="r"/>
            <a:r>
              <a:rPr lang="en-US" dirty="0">
                <a:latin typeface="Clash Display Light" pitchFamily="2" charset="0"/>
              </a:rPr>
              <a:t>Shimla to Kalpa ( 4 x 4) </a:t>
            </a:r>
          </a:p>
        </p:txBody>
      </p:sp>
    </p:spTree>
    <p:extLst>
      <p:ext uri="{BB962C8B-B14F-4D97-AF65-F5344CB8AC3E}">
        <p14:creationId xmlns:p14="http://schemas.microsoft.com/office/powerpoint/2010/main" val="3486801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8B32E-1554-2D19-9751-B6F2D8D01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71A875-F99D-4EF5-21C2-A9FE441B2AF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BACBC1F-A2ED-8B76-5AD2-1F0E1561BCE0}"/>
              </a:ext>
            </a:extLst>
          </p:cNvPr>
          <p:cNvSpPr/>
          <p:nvPr/>
        </p:nvSpPr>
        <p:spPr>
          <a:xfrm>
            <a:off x="9408328" y="0"/>
            <a:ext cx="27836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CA5B33-F0B0-D2B7-E698-C37784D2AC7F}"/>
              </a:ext>
            </a:extLst>
          </p:cNvPr>
          <p:cNvSpPr txBox="1"/>
          <p:nvPr/>
        </p:nvSpPr>
        <p:spPr>
          <a:xfrm>
            <a:off x="9458840" y="5842335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9F5DF8-0E3C-5376-C1E9-EECCA458336D}"/>
              </a:ext>
            </a:extLst>
          </p:cNvPr>
          <p:cNvSpPr txBox="1"/>
          <p:nvPr/>
        </p:nvSpPr>
        <p:spPr>
          <a:xfrm>
            <a:off x="9187712" y="6165501"/>
            <a:ext cx="3029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25 Dec’ 26</a:t>
            </a:r>
          </a:p>
          <a:p>
            <a:pPr algn="r"/>
            <a:r>
              <a:rPr lang="en-US" dirty="0">
                <a:latin typeface="Clash Display Light" pitchFamily="2" charset="0"/>
              </a:rPr>
              <a:t>Shimla to Kalpa (4 x4)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3FD675-A474-BA2F-F30C-60E0D8851254}"/>
              </a:ext>
            </a:extLst>
          </p:cNvPr>
          <p:cNvSpPr txBox="1"/>
          <p:nvPr/>
        </p:nvSpPr>
        <p:spPr>
          <a:xfrm>
            <a:off x="133350" y="384667"/>
            <a:ext cx="1150620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Shimla </a:t>
            </a:r>
            <a:r>
              <a:rPr lang="en-US" sz="1600" dirty="0">
                <a:solidFill>
                  <a:schemeClr val="bg1"/>
                </a:solidFill>
                <a:latin typeface="Clash Display Light" pitchFamily="2" charset="0"/>
              </a:rPr>
              <a:t>(7,250ft)</a:t>
            </a:r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 to Kalpa </a:t>
            </a:r>
            <a:r>
              <a:rPr lang="en-US" sz="1600" dirty="0">
                <a:solidFill>
                  <a:schemeClr val="bg1"/>
                </a:solidFill>
                <a:latin typeface="Clash Display Light" pitchFamily="2" charset="0"/>
              </a:rPr>
              <a:t>(9,700ft)</a:t>
            </a:r>
            <a:endParaRPr lang="en-US" sz="16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Shimla Pick-up time – 10.00 am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Pick-up point -  Near Mc Car parking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Preferred mode of travel – 4 x 4 – 3 nos.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Shimla to Kalpa distance – 237 kms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Travel Time according to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Gmaps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– 7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hrs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30 mins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Actual travel time – 10 to 12 hours (considering lunch,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dinner, pee – poop and sight seeing pit stops)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Kalpa drop-off time – 10.00 pm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Sight seeing Pit stop  - </a:t>
            </a:r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Kinnaur Gate</a:t>
            </a: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FA8FAA5-BDCE-AB57-3D2A-6F8741E77472}"/>
              </a:ext>
            </a:extLst>
          </p:cNvPr>
          <p:cNvGrpSpPr/>
          <p:nvPr/>
        </p:nvGrpSpPr>
        <p:grpSpPr>
          <a:xfrm>
            <a:off x="9408328" y="384666"/>
            <a:ext cx="2783672" cy="2838450"/>
            <a:chOff x="5406189" y="-1"/>
            <a:chExt cx="6785811" cy="691934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BA6E65C-893C-C84D-D06B-E78FC24930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406189" y="-1"/>
              <a:ext cx="6785811" cy="6919343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059AF82-5E28-EBE5-D706-3B57C45895E8}"/>
                </a:ext>
              </a:extLst>
            </p:cNvPr>
            <p:cNvSpPr/>
            <p:nvPr/>
          </p:nvSpPr>
          <p:spPr>
            <a:xfrm>
              <a:off x="6183229" y="6296922"/>
              <a:ext cx="224589" cy="22458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2FEF9F8-DC43-4AB1-623D-D21F1B373AE6}"/>
                </a:ext>
              </a:extLst>
            </p:cNvPr>
            <p:cNvSpPr/>
            <p:nvPr/>
          </p:nvSpPr>
          <p:spPr>
            <a:xfrm>
              <a:off x="8635001" y="4311602"/>
              <a:ext cx="232988" cy="23298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C4296E1-28F1-FA21-E50E-E8CDFA68184C}"/>
                </a:ext>
              </a:extLst>
            </p:cNvPr>
            <p:cNvCxnSpPr>
              <a:cxnSpLocks/>
              <a:stCxn id="4" idx="7"/>
              <a:endCxn id="16" idx="3"/>
            </p:cNvCxnSpPr>
            <p:nvPr/>
          </p:nvCxnSpPr>
          <p:spPr>
            <a:xfrm flipV="1">
              <a:off x="6374927" y="4510471"/>
              <a:ext cx="2294194" cy="1819343"/>
            </a:xfrm>
            <a:prstGeom prst="line">
              <a:avLst/>
            </a:prstGeom>
            <a:ln w="38100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47650FAA-FCC4-CF79-A166-0FE388C6B978}"/>
                </a:ext>
              </a:extLst>
            </p:cNvPr>
            <p:cNvSpPr/>
            <p:nvPr/>
          </p:nvSpPr>
          <p:spPr>
            <a:xfrm>
              <a:off x="10068415" y="4204893"/>
              <a:ext cx="414403" cy="41440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5B6E8946-3B13-E908-A506-01CF6484E3D1}"/>
              </a:ext>
            </a:extLst>
          </p:cNvPr>
          <p:cNvSpPr txBox="1"/>
          <p:nvPr/>
        </p:nvSpPr>
        <p:spPr>
          <a:xfrm>
            <a:off x="9408328" y="3223116"/>
            <a:ext cx="3029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lash Display Medium" pitchFamily="2" charset="0"/>
              </a:rPr>
              <a:t>Key Route map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0D79403-92B1-3FFC-0216-F6C148C2A483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10825484" y="2194594"/>
            <a:ext cx="495380" cy="6564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967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A242E-110E-693A-FA6F-537FAE18C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8A46D2-D15C-A81B-4B03-D3672CAA94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3A0EBFA-22F5-31D6-FE36-CCFAF048E7A1}"/>
              </a:ext>
            </a:extLst>
          </p:cNvPr>
          <p:cNvSpPr/>
          <p:nvPr/>
        </p:nvSpPr>
        <p:spPr>
          <a:xfrm>
            <a:off x="9408328" y="0"/>
            <a:ext cx="27836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247F6E-7503-1729-C54A-E6F5564D3415}"/>
              </a:ext>
            </a:extLst>
          </p:cNvPr>
          <p:cNvSpPr txBox="1"/>
          <p:nvPr/>
        </p:nvSpPr>
        <p:spPr>
          <a:xfrm>
            <a:off x="9458840" y="5842335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8D978C-B3C1-04BD-72E3-70524597E529}"/>
              </a:ext>
            </a:extLst>
          </p:cNvPr>
          <p:cNvSpPr txBox="1"/>
          <p:nvPr/>
        </p:nvSpPr>
        <p:spPr>
          <a:xfrm>
            <a:off x="9187712" y="6165501"/>
            <a:ext cx="3029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26 Dec’ 26</a:t>
            </a:r>
          </a:p>
          <a:p>
            <a:pPr algn="r"/>
            <a:r>
              <a:rPr lang="en-US" dirty="0">
                <a:latin typeface="Clash Display Light" pitchFamily="2" charset="0"/>
              </a:rPr>
              <a:t>Kalpa Halt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82CBF5-DEB4-FEE8-6DE9-C46AD9286E89}"/>
              </a:ext>
            </a:extLst>
          </p:cNvPr>
          <p:cNvSpPr txBox="1"/>
          <p:nvPr/>
        </p:nvSpPr>
        <p:spPr>
          <a:xfrm>
            <a:off x="133350" y="384667"/>
            <a:ext cx="115062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Kalpa halt</a:t>
            </a: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Stay back in Kalpa and explore places in and around Kalpa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Spots in Kalpa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Kinnaur Kailash Viewpoint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Suicide viewpoint (on the way to Kinnaur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kailash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viewpoint)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Chakha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meadows (round trip forest trek 4 to 5 hours)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Kalpa Monastery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Roghi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village (if possible)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Leave at 8.00 am sharp, only then we will be able to cover these spots.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      This includes chilling, rolling, etc.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Return to the stay by 7/7.30 pm max.</a:t>
            </a:r>
            <a:endParaRPr lang="en-US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7F76F1F-0285-96A1-1556-EF91B1CD09F3}"/>
              </a:ext>
            </a:extLst>
          </p:cNvPr>
          <p:cNvGrpSpPr/>
          <p:nvPr/>
        </p:nvGrpSpPr>
        <p:grpSpPr>
          <a:xfrm>
            <a:off x="9408328" y="384666"/>
            <a:ext cx="2783672" cy="2838450"/>
            <a:chOff x="5406189" y="-1"/>
            <a:chExt cx="6785811" cy="691934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B67EA02-D563-7694-4CD3-E4D212C58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406189" y="-1"/>
              <a:ext cx="6785811" cy="6919343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131DD9E-2D9C-559D-C69B-DA3D739AA4C5}"/>
                </a:ext>
              </a:extLst>
            </p:cNvPr>
            <p:cNvSpPr/>
            <p:nvPr/>
          </p:nvSpPr>
          <p:spPr>
            <a:xfrm>
              <a:off x="6183229" y="6296922"/>
              <a:ext cx="224589" cy="22458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0E1B78C-D839-0869-7307-4EC9C8641EC3}"/>
                </a:ext>
              </a:extLst>
            </p:cNvPr>
            <p:cNvSpPr/>
            <p:nvPr/>
          </p:nvSpPr>
          <p:spPr>
            <a:xfrm>
              <a:off x="8635001" y="4311602"/>
              <a:ext cx="232988" cy="23298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97F8DD35-0416-0241-6E32-374D78C41AFD}"/>
                </a:ext>
              </a:extLst>
            </p:cNvPr>
            <p:cNvCxnSpPr>
              <a:cxnSpLocks/>
              <a:stCxn id="4" idx="7"/>
              <a:endCxn id="16" idx="3"/>
            </p:cNvCxnSpPr>
            <p:nvPr/>
          </p:nvCxnSpPr>
          <p:spPr>
            <a:xfrm flipV="1">
              <a:off x="6374927" y="4510471"/>
              <a:ext cx="2294194" cy="1819343"/>
            </a:xfrm>
            <a:prstGeom prst="line">
              <a:avLst/>
            </a:prstGeom>
            <a:ln w="38100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783E0D6-21D8-1E47-C7CB-F042D168759B}"/>
                </a:ext>
              </a:extLst>
            </p:cNvPr>
            <p:cNvSpPr/>
            <p:nvPr/>
          </p:nvSpPr>
          <p:spPr>
            <a:xfrm>
              <a:off x="10068415" y="4204893"/>
              <a:ext cx="414403" cy="41440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C617A4AF-E20C-9AEE-81EC-ED2FAAEC4253}"/>
              </a:ext>
            </a:extLst>
          </p:cNvPr>
          <p:cNvSpPr txBox="1"/>
          <p:nvPr/>
        </p:nvSpPr>
        <p:spPr>
          <a:xfrm>
            <a:off x="9408328" y="3223116"/>
            <a:ext cx="3029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lash Display Medium" pitchFamily="2" charset="0"/>
              </a:rPr>
              <a:t>Key Route map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6BC70AC-59DA-473B-662F-A0C2EF661CED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10825484" y="2194594"/>
            <a:ext cx="495380" cy="6564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6988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77CE1-B9E6-6375-3B4B-6486343E9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B97F37A-E8F9-5910-AC41-67F6B7427A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2C001D1-A0EB-2835-359C-C2C1F8C0DF6A}"/>
              </a:ext>
            </a:extLst>
          </p:cNvPr>
          <p:cNvSpPr/>
          <p:nvPr/>
        </p:nvSpPr>
        <p:spPr>
          <a:xfrm>
            <a:off x="9408328" y="0"/>
            <a:ext cx="27836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1832B9-E266-43E1-81D1-2E9B75E25FAC}"/>
              </a:ext>
            </a:extLst>
          </p:cNvPr>
          <p:cNvSpPr txBox="1"/>
          <p:nvPr/>
        </p:nvSpPr>
        <p:spPr>
          <a:xfrm>
            <a:off x="9458840" y="5842335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B4E69E-1285-E90C-B258-43317EC6A1F1}"/>
              </a:ext>
            </a:extLst>
          </p:cNvPr>
          <p:cNvSpPr txBox="1"/>
          <p:nvPr/>
        </p:nvSpPr>
        <p:spPr>
          <a:xfrm>
            <a:off x="9187712" y="6165501"/>
            <a:ext cx="3029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27 Dec’ 26</a:t>
            </a:r>
          </a:p>
          <a:p>
            <a:pPr algn="r"/>
            <a:r>
              <a:rPr lang="en-US" dirty="0">
                <a:latin typeface="Clash Display Light" pitchFamily="2" charset="0"/>
              </a:rPr>
              <a:t>Kalpa to Tabo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9D1470-AC8C-8A57-ED06-D8A4AB8BB055}"/>
              </a:ext>
            </a:extLst>
          </p:cNvPr>
          <p:cNvSpPr txBox="1"/>
          <p:nvPr/>
        </p:nvSpPr>
        <p:spPr>
          <a:xfrm>
            <a:off x="133350" y="384667"/>
            <a:ext cx="11506200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Kalpa </a:t>
            </a:r>
            <a:r>
              <a:rPr lang="en-US" sz="1600" dirty="0">
                <a:solidFill>
                  <a:schemeClr val="bg1"/>
                </a:solidFill>
                <a:latin typeface="Clash Display Light" pitchFamily="2" charset="0"/>
              </a:rPr>
              <a:t>(9,700ft)</a:t>
            </a:r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 to Tabo </a:t>
            </a:r>
            <a:r>
              <a:rPr lang="en-US" sz="1600" dirty="0">
                <a:solidFill>
                  <a:schemeClr val="bg1"/>
                </a:solidFill>
                <a:latin typeface="Clash Display Light" pitchFamily="2" charset="0"/>
              </a:rPr>
              <a:t>(10,700ft)</a:t>
            </a:r>
            <a:r>
              <a:rPr lang="en-US" sz="2800" dirty="0">
                <a:solidFill>
                  <a:schemeClr val="bg1"/>
                </a:solidFill>
                <a:latin typeface="Clash Display Semibold" pitchFamily="2" charset="0"/>
              </a:rPr>
              <a:t> </a:t>
            </a:r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Kalpa start-of time – 11.00 am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Kept extra 2/3 hours for exploring left over places (if any)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Preferred mode of travel – 4 x 4 – 3 nos.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Kalpa to Tabo distance – 160 kms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Travel Time according to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Gmaps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– 4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hrs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15 mins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Actual travel time – 8 to 10 hours (considering lunch,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dinner, pee – poop and sight seeing pit stops)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Tabo drop-off time – 9.00 pm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Sight seeing Pit stop - </a:t>
            </a:r>
            <a:r>
              <a:rPr lang="en-US" dirty="0" err="1">
                <a:solidFill>
                  <a:schemeClr val="bg1"/>
                </a:solidFill>
                <a:latin typeface="Clash Display Semibold" pitchFamily="2" charset="0"/>
              </a:rPr>
              <a:t>Khab</a:t>
            </a:r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 Sangam(30 mins to 45 mins max)</a:t>
            </a:r>
          </a:p>
          <a:p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                                                                Nako Village (Nako Gompa, Nako lake &amp; nearby spots)</a:t>
            </a:r>
          </a:p>
          <a:p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                                                                2 to 3 hours</a:t>
            </a:r>
          </a:p>
          <a:p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                                                   </a:t>
            </a: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4CCFEC4-72C3-9206-D61A-B71BBE9BF777}"/>
              </a:ext>
            </a:extLst>
          </p:cNvPr>
          <p:cNvGrpSpPr/>
          <p:nvPr/>
        </p:nvGrpSpPr>
        <p:grpSpPr>
          <a:xfrm>
            <a:off x="9408328" y="384666"/>
            <a:ext cx="2783672" cy="2838450"/>
            <a:chOff x="5406189" y="-1"/>
            <a:chExt cx="6785811" cy="691934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BAF8A25-2A0E-333B-F26A-1F2BBE2EE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406189" y="-1"/>
              <a:ext cx="6785811" cy="6919343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8616554-0715-B733-BD8E-3DDE120732A6}"/>
                </a:ext>
              </a:extLst>
            </p:cNvPr>
            <p:cNvSpPr/>
            <p:nvPr/>
          </p:nvSpPr>
          <p:spPr>
            <a:xfrm>
              <a:off x="6183229" y="6296922"/>
              <a:ext cx="224589" cy="22458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16FA0E8-DA11-EAD5-9823-FDAA63072C2E}"/>
                </a:ext>
              </a:extLst>
            </p:cNvPr>
            <p:cNvSpPr/>
            <p:nvPr/>
          </p:nvSpPr>
          <p:spPr>
            <a:xfrm>
              <a:off x="8635001" y="4311602"/>
              <a:ext cx="232988" cy="23298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9DDC63B-A03B-B6A9-EC47-0F392F1185EC}"/>
                </a:ext>
              </a:extLst>
            </p:cNvPr>
            <p:cNvCxnSpPr>
              <a:cxnSpLocks/>
              <a:stCxn id="4" idx="7"/>
              <a:endCxn id="16" idx="3"/>
            </p:cNvCxnSpPr>
            <p:nvPr/>
          </p:nvCxnSpPr>
          <p:spPr>
            <a:xfrm flipV="1">
              <a:off x="6374927" y="4510471"/>
              <a:ext cx="2294194" cy="1819343"/>
            </a:xfrm>
            <a:prstGeom prst="line">
              <a:avLst/>
            </a:prstGeom>
            <a:ln w="38100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46510253-BC48-FD6B-EC26-0C1C18954C6D}"/>
                </a:ext>
              </a:extLst>
            </p:cNvPr>
            <p:cNvSpPr/>
            <p:nvPr/>
          </p:nvSpPr>
          <p:spPr>
            <a:xfrm>
              <a:off x="10068415" y="4204893"/>
              <a:ext cx="414403" cy="41440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CAC94A7-F3D7-A032-E9A0-15E483EC142F}"/>
                </a:ext>
              </a:extLst>
            </p:cNvPr>
            <p:cNvSpPr/>
            <p:nvPr/>
          </p:nvSpPr>
          <p:spPr>
            <a:xfrm>
              <a:off x="10638081" y="1852946"/>
              <a:ext cx="414403" cy="41440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9B565847-C23E-E627-E333-85F564E2A054}"/>
              </a:ext>
            </a:extLst>
          </p:cNvPr>
          <p:cNvSpPr txBox="1"/>
          <p:nvPr/>
        </p:nvSpPr>
        <p:spPr>
          <a:xfrm>
            <a:off x="9408328" y="3223116"/>
            <a:ext cx="3029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lash Display Medium" pitchFamily="2" charset="0"/>
              </a:rPr>
              <a:t>Key Route map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2A9A650-1840-FA80-83E5-118A4CA740F1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10825484" y="2194594"/>
            <a:ext cx="495380" cy="6564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7368A4A-D884-6E89-4248-4211B79638CD}"/>
              </a:ext>
            </a:extLst>
          </p:cNvPr>
          <p:cNvCxnSpPr>
            <a:cxnSpLocks/>
          </p:cNvCxnSpPr>
          <p:nvPr/>
        </p:nvCxnSpPr>
        <p:spPr>
          <a:xfrm flipV="1">
            <a:off x="11428694" y="1913981"/>
            <a:ext cx="466188" cy="287177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51CCB73-C86F-A32C-3754-A6FC1E0AC7D1}"/>
              </a:ext>
            </a:extLst>
          </p:cNvPr>
          <p:cNvSpPr/>
          <p:nvPr/>
        </p:nvSpPr>
        <p:spPr>
          <a:xfrm>
            <a:off x="11838741" y="1867813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FFD46C9-616A-0A73-1449-F5FEE3BFAC58}"/>
              </a:ext>
            </a:extLst>
          </p:cNvPr>
          <p:cNvSpPr/>
          <p:nvPr/>
        </p:nvSpPr>
        <p:spPr>
          <a:xfrm>
            <a:off x="11921614" y="1468194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38B9D7F-EECE-7976-C7EE-48164B56E73A}"/>
              </a:ext>
            </a:extLst>
          </p:cNvPr>
          <p:cNvCxnSpPr>
            <a:cxnSpLocks/>
          </p:cNvCxnSpPr>
          <p:nvPr/>
        </p:nvCxnSpPr>
        <p:spPr>
          <a:xfrm flipV="1">
            <a:off x="11910441" y="1563769"/>
            <a:ext cx="42180" cy="304044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677F527-0B19-36BD-C2E2-144AA2F46569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11724548" y="1297021"/>
            <a:ext cx="211063" cy="185170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2638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0EA72-F7B8-D76B-EC29-E5EE711C1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6EA23AD-9853-D452-B36A-5464CA3E46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7FBFE23-211B-9A42-97D1-372EC3C01A65}"/>
              </a:ext>
            </a:extLst>
          </p:cNvPr>
          <p:cNvSpPr/>
          <p:nvPr/>
        </p:nvSpPr>
        <p:spPr>
          <a:xfrm>
            <a:off x="9408328" y="0"/>
            <a:ext cx="27836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F0AC2D-45D5-57C0-3470-36BE3E48DB15}"/>
              </a:ext>
            </a:extLst>
          </p:cNvPr>
          <p:cNvSpPr txBox="1"/>
          <p:nvPr/>
        </p:nvSpPr>
        <p:spPr>
          <a:xfrm>
            <a:off x="9458840" y="5842335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423E41-F900-2A80-E66B-1DDBE728DE50}"/>
              </a:ext>
            </a:extLst>
          </p:cNvPr>
          <p:cNvSpPr txBox="1"/>
          <p:nvPr/>
        </p:nvSpPr>
        <p:spPr>
          <a:xfrm>
            <a:off x="9187712" y="6165501"/>
            <a:ext cx="3029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28 Dec’ 26</a:t>
            </a:r>
          </a:p>
          <a:p>
            <a:pPr algn="r"/>
            <a:r>
              <a:rPr lang="en-US" dirty="0">
                <a:latin typeface="Clash Display Light" pitchFamily="2" charset="0"/>
              </a:rPr>
              <a:t>Tabo Halt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F710FE-D546-DAEE-F8CF-BF5D05F97610}"/>
              </a:ext>
            </a:extLst>
          </p:cNvPr>
          <p:cNvSpPr txBox="1"/>
          <p:nvPr/>
        </p:nvSpPr>
        <p:spPr>
          <a:xfrm>
            <a:off x="133350" y="384667"/>
            <a:ext cx="1150620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Tabo Halt</a:t>
            </a: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Stay back in Tabo and explore places in and around Tabo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Spots in Tabo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Tabo monastery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Tabo caves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Local sight seeing &amp; chilling (considering this stay for majorly chilling &amp; less of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       sight seeing)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Leave at 9.00 am sharp,. Meet locals get to know about more places, chill &amp;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       Return to the stay by 7/7.30 pm max.</a:t>
            </a:r>
            <a:endParaRPr lang="en-US" dirty="0">
              <a:solidFill>
                <a:schemeClr val="bg1"/>
              </a:solidFill>
              <a:latin typeface="Clash Display Semibold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                                                   </a:t>
            </a: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DA216C7-4586-F768-C903-DF15ADBD27AE}"/>
              </a:ext>
            </a:extLst>
          </p:cNvPr>
          <p:cNvGrpSpPr/>
          <p:nvPr/>
        </p:nvGrpSpPr>
        <p:grpSpPr>
          <a:xfrm>
            <a:off x="9408328" y="384666"/>
            <a:ext cx="2783672" cy="2838450"/>
            <a:chOff x="5406189" y="-1"/>
            <a:chExt cx="6785811" cy="691934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6BD2B00-3E39-9A8C-04A8-9534C5740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406189" y="-1"/>
              <a:ext cx="6785811" cy="6919343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77A3FCE7-8A33-E1AA-DF86-A0BB48A234F4}"/>
                </a:ext>
              </a:extLst>
            </p:cNvPr>
            <p:cNvSpPr/>
            <p:nvPr/>
          </p:nvSpPr>
          <p:spPr>
            <a:xfrm>
              <a:off x="6183229" y="6296922"/>
              <a:ext cx="224589" cy="22458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57BBD46-D958-C25C-5598-930BE386B973}"/>
                </a:ext>
              </a:extLst>
            </p:cNvPr>
            <p:cNvSpPr/>
            <p:nvPr/>
          </p:nvSpPr>
          <p:spPr>
            <a:xfrm>
              <a:off x="8635001" y="4311602"/>
              <a:ext cx="232988" cy="23298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F3644D3-0B48-6195-4BC4-4CBC38DBC134}"/>
                </a:ext>
              </a:extLst>
            </p:cNvPr>
            <p:cNvCxnSpPr>
              <a:cxnSpLocks/>
              <a:stCxn id="4" idx="7"/>
              <a:endCxn id="16" idx="3"/>
            </p:cNvCxnSpPr>
            <p:nvPr/>
          </p:nvCxnSpPr>
          <p:spPr>
            <a:xfrm flipV="1">
              <a:off x="6374927" y="4510471"/>
              <a:ext cx="2294194" cy="1819343"/>
            </a:xfrm>
            <a:prstGeom prst="line">
              <a:avLst/>
            </a:prstGeom>
            <a:ln w="38100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C94FC8D-2469-7E69-5647-A5985F2727B1}"/>
                </a:ext>
              </a:extLst>
            </p:cNvPr>
            <p:cNvSpPr/>
            <p:nvPr/>
          </p:nvSpPr>
          <p:spPr>
            <a:xfrm>
              <a:off x="10068415" y="4204893"/>
              <a:ext cx="414403" cy="41440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DCE12A0-AF82-A762-4FE3-9B8AFDE141B1}"/>
                </a:ext>
              </a:extLst>
            </p:cNvPr>
            <p:cNvSpPr/>
            <p:nvPr/>
          </p:nvSpPr>
          <p:spPr>
            <a:xfrm>
              <a:off x="10638081" y="1852946"/>
              <a:ext cx="414403" cy="41440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7ADBA26C-E234-417D-AFB7-02F3C7AEAFBF}"/>
              </a:ext>
            </a:extLst>
          </p:cNvPr>
          <p:cNvSpPr txBox="1"/>
          <p:nvPr/>
        </p:nvSpPr>
        <p:spPr>
          <a:xfrm>
            <a:off x="9408328" y="3223116"/>
            <a:ext cx="3029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lash Display Medium" pitchFamily="2" charset="0"/>
              </a:rPr>
              <a:t>Key Route map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D9CE1A8-3C2A-6C2C-1733-A43CA81C4D44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10825484" y="2194594"/>
            <a:ext cx="495380" cy="6564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0433B7D-C87F-E24B-0831-92DA61BC747F}"/>
              </a:ext>
            </a:extLst>
          </p:cNvPr>
          <p:cNvCxnSpPr>
            <a:cxnSpLocks/>
          </p:cNvCxnSpPr>
          <p:nvPr/>
        </p:nvCxnSpPr>
        <p:spPr>
          <a:xfrm flipV="1">
            <a:off x="11428694" y="1913981"/>
            <a:ext cx="466188" cy="287177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98E19D60-F0F4-20CE-5E75-D40194A410DF}"/>
              </a:ext>
            </a:extLst>
          </p:cNvPr>
          <p:cNvSpPr/>
          <p:nvPr/>
        </p:nvSpPr>
        <p:spPr>
          <a:xfrm>
            <a:off x="11838741" y="1867813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4B194F3-0AD5-D0CD-0419-DBF59993A939}"/>
              </a:ext>
            </a:extLst>
          </p:cNvPr>
          <p:cNvSpPr/>
          <p:nvPr/>
        </p:nvSpPr>
        <p:spPr>
          <a:xfrm>
            <a:off x="11921614" y="1468194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FC58F9A-3447-BE43-9687-08B155C19178}"/>
              </a:ext>
            </a:extLst>
          </p:cNvPr>
          <p:cNvCxnSpPr>
            <a:cxnSpLocks/>
          </p:cNvCxnSpPr>
          <p:nvPr/>
        </p:nvCxnSpPr>
        <p:spPr>
          <a:xfrm flipV="1">
            <a:off x="11910441" y="1563769"/>
            <a:ext cx="42180" cy="304044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24B2B50-2C3D-0806-6BFC-ACF8AA5F51B8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11724548" y="1297021"/>
            <a:ext cx="211063" cy="185170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2910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A80B1-E168-0657-D73E-CA6B3A678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FEE3D5-606F-0BFE-FD70-E4BA9B1B1D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93CE472-ED1D-5FA7-B566-A637D4A54D90}"/>
              </a:ext>
            </a:extLst>
          </p:cNvPr>
          <p:cNvSpPr/>
          <p:nvPr/>
        </p:nvSpPr>
        <p:spPr>
          <a:xfrm>
            <a:off x="9408328" y="0"/>
            <a:ext cx="27836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6CA348-E87A-DF47-F808-2F0D525F51F4}"/>
              </a:ext>
            </a:extLst>
          </p:cNvPr>
          <p:cNvSpPr txBox="1"/>
          <p:nvPr/>
        </p:nvSpPr>
        <p:spPr>
          <a:xfrm>
            <a:off x="9458840" y="5842335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C70DDB-997C-FC14-16BD-9FF85AFD1B20}"/>
              </a:ext>
            </a:extLst>
          </p:cNvPr>
          <p:cNvSpPr txBox="1"/>
          <p:nvPr/>
        </p:nvSpPr>
        <p:spPr>
          <a:xfrm>
            <a:off x="9187712" y="6165501"/>
            <a:ext cx="3029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29 Dec’ 26</a:t>
            </a:r>
          </a:p>
          <a:p>
            <a:pPr algn="r"/>
            <a:r>
              <a:rPr lang="en-US" dirty="0">
                <a:latin typeface="Clash Display Light" pitchFamily="2" charset="0"/>
              </a:rPr>
              <a:t>Tabo to Kaza via </a:t>
            </a:r>
            <a:r>
              <a:rPr lang="en-US" dirty="0" err="1">
                <a:latin typeface="Clash Display Light" pitchFamily="2" charset="0"/>
              </a:rPr>
              <a:t>Dhankar</a:t>
            </a:r>
            <a:endParaRPr lang="en-US" dirty="0">
              <a:latin typeface="Clash Display Light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098108-0922-97D8-EF31-9F9496A732EC}"/>
              </a:ext>
            </a:extLst>
          </p:cNvPr>
          <p:cNvSpPr txBox="1"/>
          <p:nvPr/>
        </p:nvSpPr>
        <p:spPr>
          <a:xfrm>
            <a:off x="133350" y="384667"/>
            <a:ext cx="11506200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Tabo</a:t>
            </a:r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Clash Display Light" pitchFamily="2" charset="0"/>
              </a:rPr>
              <a:t>(10,700ft)</a:t>
            </a:r>
            <a:r>
              <a:rPr lang="en-US" sz="1600" dirty="0">
                <a:solidFill>
                  <a:schemeClr val="bg1"/>
                </a:solidFill>
                <a:latin typeface="Clash Display Semibold" pitchFamily="2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to Kaza </a:t>
            </a:r>
            <a:r>
              <a:rPr lang="en-US" sz="1600" dirty="0">
                <a:solidFill>
                  <a:schemeClr val="bg1"/>
                </a:solidFill>
                <a:latin typeface="Clash Display Light" pitchFamily="2" charset="0"/>
              </a:rPr>
              <a:t>(12,500ft)</a:t>
            </a:r>
            <a:r>
              <a:rPr lang="en-US" sz="1600" dirty="0">
                <a:solidFill>
                  <a:schemeClr val="bg1"/>
                </a:solidFill>
                <a:latin typeface="Clash Display Semibold" pitchFamily="2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via. </a:t>
            </a:r>
            <a:r>
              <a:rPr lang="en-US" sz="2000" dirty="0" err="1">
                <a:solidFill>
                  <a:schemeClr val="bg1"/>
                </a:solidFill>
                <a:latin typeface="Clash Display Semibold" pitchFamily="2" charset="0"/>
              </a:rPr>
              <a:t>Dhankar</a:t>
            </a:r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 Monastery</a:t>
            </a: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Tabo start-of time – 10.00 am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Preferred mode of travel – 4 x 4 – 3 nos.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Tabo to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Dhankar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monastery distance – 32 kms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Travel Time according to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Gmaps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– 1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hrs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30 mins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Actual travel time – 2 to 2.5 hours (considering pee – poop and sight seeing pit stops)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Dhankar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Monastery drop-off time – 12.30 pm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Time span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Dhankar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monastery, village &amp;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Dhankar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lake trek (2 kms) – 4 to 5 hours 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Dhankar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start-of time – 5.30 pm</a:t>
            </a:r>
          </a:p>
          <a:p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Dhankar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to Kaza distance – 34 kms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Travel Time according to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Gmaps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– 1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hrs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30 mins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Actual travel time – 2 to 2.5 hours (considering pee – poop and sight seeing pit stops)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Kaza drop off time – 8.00 pm</a:t>
            </a:r>
          </a:p>
          <a:p>
            <a:endParaRPr lang="en-US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0F96863-309B-0B60-1DBA-EBFB65F51BAC}"/>
              </a:ext>
            </a:extLst>
          </p:cNvPr>
          <p:cNvGrpSpPr/>
          <p:nvPr/>
        </p:nvGrpSpPr>
        <p:grpSpPr>
          <a:xfrm>
            <a:off x="9408328" y="384666"/>
            <a:ext cx="2783672" cy="2838450"/>
            <a:chOff x="5406189" y="-1"/>
            <a:chExt cx="6785811" cy="691934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8877FD7-DDD6-EB86-8F91-7C9F634ED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406189" y="-1"/>
              <a:ext cx="6785811" cy="6919343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F43F621-BA36-3B21-CC8D-09A5F7AED0A4}"/>
                </a:ext>
              </a:extLst>
            </p:cNvPr>
            <p:cNvSpPr/>
            <p:nvPr/>
          </p:nvSpPr>
          <p:spPr>
            <a:xfrm>
              <a:off x="6183229" y="6296922"/>
              <a:ext cx="224589" cy="22458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F5B68E7-7712-234E-001D-A8D397D436E0}"/>
                </a:ext>
              </a:extLst>
            </p:cNvPr>
            <p:cNvSpPr/>
            <p:nvPr/>
          </p:nvSpPr>
          <p:spPr>
            <a:xfrm>
              <a:off x="8635001" y="4311602"/>
              <a:ext cx="232988" cy="23298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3A5331A-EF1D-D72A-01EF-117D25E131AC}"/>
                </a:ext>
              </a:extLst>
            </p:cNvPr>
            <p:cNvCxnSpPr>
              <a:cxnSpLocks/>
              <a:stCxn id="4" idx="7"/>
              <a:endCxn id="16" idx="3"/>
            </p:cNvCxnSpPr>
            <p:nvPr/>
          </p:nvCxnSpPr>
          <p:spPr>
            <a:xfrm flipV="1">
              <a:off x="6374927" y="4510471"/>
              <a:ext cx="2294194" cy="1819343"/>
            </a:xfrm>
            <a:prstGeom prst="line">
              <a:avLst/>
            </a:prstGeom>
            <a:ln w="38100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C37FDC-6B50-1A83-43A1-E755FBC6B549}"/>
                </a:ext>
              </a:extLst>
            </p:cNvPr>
            <p:cNvSpPr/>
            <p:nvPr/>
          </p:nvSpPr>
          <p:spPr>
            <a:xfrm>
              <a:off x="10068415" y="4204893"/>
              <a:ext cx="414403" cy="41440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A1392CF-76C0-F4C7-7E46-5D59274B3986}"/>
                </a:ext>
              </a:extLst>
            </p:cNvPr>
            <p:cNvSpPr/>
            <p:nvPr/>
          </p:nvSpPr>
          <p:spPr>
            <a:xfrm>
              <a:off x="10638081" y="1852946"/>
              <a:ext cx="414403" cy="41440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6C7F6F8-62BC-6E79-ACB6-71CE3B0B545A}"/>
                </a:ext>
              </a:extLst>
            </p:cNvPr>
            <p:cNvSpPr/>
            <p:nvPr/>
          </p:nvSpPr>
          <p:spPr>
            <a:xfrm>
              <a:off x="9464616" y="1227549"/>
              <a:ext cx="414403" cy="41440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0BD452C0-8EA2-F2C9-028F-29E295BE994A}"/>
              </a:ext>
            </a:extLst>
          </p:cNvPr>
          <p:cNvSpPr txBox="1"/>
          <p:nvPr/>
        </p:nvSpPr>
        <p:spPr>
          <a:xfrm>
            <a:off x="9408328" y="3223116"/>
            <a:ext cx="3029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lash Display Medium" pitchFamily="2" charset="0"/>
              </a:rPr>
              <a:t>Key Route map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015FC70-51AF-8DA4-76DD-E00DB6030D42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10825484" y="2194594"/>
            <a:ext cx="495380" cy="6564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9FA3164-5ADF-82C8-F6B6-A08507278F91}"/>
              </a:ext>
            </a:extLst>
          </p:cNvPr>
          <p:cNvCxnSpPr>
            <a:cxnSpLocks/>
          </p:cNvCxnSpPr>
          <p:nvPr/>
        </p:nvCxnSpPr>
        <p:spPr>
          <a:xfrm flipV="1">
            <a:off x="11428694" y="1913981"/>
            <a:ext cx="466188" cy="287177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7A2365E-8274-B4D5-01B5-5FE5C2BC70A6}"/>
              </a:ext>
            </a:extLst>
          </p:cNvPr>
          <p:cNvSpPr/>
          <p:nvPr/>
        </p:nvSpPr>
        <p:spPr>
          <a:xfrm>
            <a:off x="11838741" y="1867813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82F624F-8D45-8F10-2811-806BCDE26E56}"/>
              </a:ext>
            </a:extLst>
          </p:cNvPr>
          <p:cNvSpPr/>
          <p:nvPr/>
        </p:nvSpPr>
        <p:spPr>
          <a:xfrm>
            <a:off x="11921614" y="1468194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F1610B4-E353-3DBF-A9A8-CDC588EDDE80}"/>
              </a:ext>
            </a:extLst>
          </p:cNvPr>
          <p:cNvCxnSpPr>
            <a:cxnSpLocks/>
            <a:endCxn id="13" idx="4"/>
          </p:cNvCxnSpPr>
          <p:nvPr/>
        </p:nvCxnSpPr>
        <p:spPr>
          <a:xfrm flipV="1">
            <a:off x="11910441" y="1563770"/>
            <a:ext cx="58961" cy="304043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B93E8B6-5295-04FF-4C40-A91DFF00E1CC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11724548" y="1297021"/>
            <a:ext cx="211063" cy="185170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A8FB25-20A1-4BAD-2A4B-7148BECB76B3}"/>
              </a:ext>
            </a:extLst>
          </p:cNvPr>
          <p:cNvCxnSpPr>
            <a:cxnSpLocks/>
            <a:stCxn id="6" idx="1"/>
            <a:endCxn id="10" idx="5"/>
          </p:cNvCxnSpPr>
          <p:nvPr/>
        </p:nvCxnSpPr>
        <p:spPr>
          <a:xfrm flipH="1" flipV="1">
            <a:off x="11218275" y="1033332"/>
            <a:ext cx="361172" cy="136344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34731684-3934-D6A7-4CB5-4A1845ED7D25}"/>
              </a:ext>
            </a:extLst>
          </p:cNvPr>
          <p:cNvSpPr/>
          <p:nvPr/>
        </p:nvSpPr>
        <p:spPr>
          <a:xfrm>
            <a:off x="11428694" y="914672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AEA4B3A-4D85-E3C1-4B21-6E989827354E}"/>
              </a:ext>
            </a:extLst>
          </p:cNvPr>
          <p:cNvCxnSpPr>
            <a:cxnSpLocks/>
          </p:cNvCxnSpPr>
          <p:nvPr/>
        </p:nvCxnSpPr>
        <p:spPr>
          <a:xfrm flipV="1">
            <a:off x="11447415" y="992978"/>
            <a:ext cx="22139" cy="134924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5336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67718-B6D1-3910-2695-E52B018A2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D392D0-C978-2FCA-A250-DA1A65EB7B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CCE683F-8D98-D024-FA3C-2E282B146624}"/>
              </a:ext>
            </a:extLst>
          </p:cNvPr>
          <p:cNvSpPr/>
          <p:nvPr/>
        </p:nvSpPr>
        <p:spPr>
          <a:xfrm>
            <a:off x="9408328" y="0"/>
            <a:ext cx="27836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B84615-E6F4-C0FD-BF97-7AA8CBFC1196}"/>
              </a:ext>
            </a:extLst>
          </p:cNvPr>
          <p:cNvSpPr txBox="1"/>
          <p:nvPr/>
        </p:nvSpPr>
        <p:spPr>
          <a:xfrm>
            <a:off x="9458840" y="5842335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B80B0A-4FF5-EA09-453F-B22193B850EA}"/>
              </a:ext>
            </a:extLst>
          </p:cNvPr>
          <p:cNvSpPr txBox="1"/>
          <p:nvPr/>
        </p:nvSpPr>
        <p:spPr>
          <a:xfrm>
            <a:off x="9187712" y="6165501"/>
            <a:ext cx="3029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30 Dec’ 26</a:t>
            </a:r>
          </a:p>
          <a:p>
            <a:pPr algn="r"/>
            <a:r>
              <a:rPr lang="en-US" dirty="0">
                <a:latin typeface="Clash Display Light" pitchFamily="2" charset="0"/>
              </a:rPr>
              <a:t>Kaza Halt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3A4FA3-ADCB-6428-1CCD-E15A942E9F46}"/>
              </a:ext>
            </a:extLst>
          </p:cNvPr>
          <p:cNvSpPr txBox="1"/>
          <p:nvPr/>
        </p:nvSpPr>
        <p:spPr>
          <a:xfrm>
            <a:off x="133350" y="384667"/>
            <a:ext cx="1150620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Kaza halt </a:t>
            </a: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Stay back in Kaza and explore places in and around Kaza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Spots in Kaza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Kaza to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Langza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(1 hour)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Langza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time span – 2 to 3 hours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Langza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to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Komic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( 30 mins)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Komic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time span – 2 to 3 hours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Komic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to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Hikkim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(20 mins)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Hikkim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time span – 1.5 to 2 hours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Hikkim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to Kaza (1 hour)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Leave at 8.00 am sharp only then we will be able to cover all these spots and these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       spots are the heart of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spiti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valley and the circuit &amp; then return to the stay by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       7.30/8 pm max.</a:t>
            </a:r>
            <a:endParaRPr lang="en-US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56A1101-EC07-9FF0-7CBB-692D4EB7C9B4}"/>
              </a:ext>
            </a:extLst>
          </p:cNvPr>
          <p:cNvGrpSpPr/>
          <p:nvPr/>
        </p:nvGrpSpPr>
        <p:grpSpPr>
          <a:xfrm>
            <a:off x="9408328" y="384666"/>
            <a:ext cx="2783672" cy="2838450"/>
            <a:chOff x="5406189" y="-1"/>
            <a:chExt cx="6785811" cy="691934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783F66C-8AC2-D12B-24C7-974E7D2F8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406189" y="-1"/>
              <a:ext cx="6785811" cy="6919343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16AA2FC-70DB-A9D8-D6D6-749A363E3CE9}"/>
                </a:ext>
              </a:extLst>
            </p:cNvPr>
            <p:cNvSpPr/>
            <p:nvPr/>
          </p:nvSpPr>
          <p:spPr>
            <a:xfrm>
              <a:off x="6183229" y="6296922"/>
              <a:ext cx="224589" cy="22458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DED45EA-AC9F-7F81-4F5E-2F354BCF2393}"/>
                </a:ext>
              </a:extLst>
            </p:cNvPr>
            <p:cNvSpPr/>
            <p:nvPr/>
          </p:nvSpPr>
          <p:spPr>
            <a:xfrm>
              <a:off x="8635001" y="4311602"/>
              <a:ext cx="232988" cy="23298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F224DF2-D70B-4CA1-AC8B-A14068CDAAF7}"/>
                </a:ext>
              </a:extLst>
            </p:cNvPr>
            <p:cNvCxnSpPr>
              <a:cxnSpLocks/>
              <a:stCxn id="4" idx="7"/>
              <a:endCxn id="16" idx="3"/>
            </p:cNvCxnSpPr>
            <p:nvPr/>
          </p:nvCxnSpPr>
          <p:spPr>
            <a:xfrm flipV="1">
              <a:off x="6374927" y="4510471"/>
              <a:ext cx="2294194" cy="1819343"/>
            </a:xfrm>
            <a:prstGeom prst="line">
              <a:avLst/>
            </a:prstGeom>
            <a:ln w="38100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0A22D71-94DE-3BDB-178A-0F123971D418}"/>
                </a:ext>
              </a:extLst>
            </p:cNvPr>
            <p:cNvSpPr/>
            <p:nvPr/>
          </p:nvSpPr>
          <p:spPr>
            <a:xfrm>
              <a:off x="10068415" y="4204893"/>
              <a:ext cx="414403" cy="41440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F623A65-21C5-D20F-48C6-CDC7B7B87EE6}"/>
                </a:ext>
              </a:extLst>
            </p:cNvPr>
            <p:cNvSpPr/>
            <p:nvPr/>
          </p:nvSpPr>
          <p:spPr>
            <a:xfrm>
              <a:off x="10638081" y="1852946"/>
              <a:ext cx="414403" cy="41440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F46FCA2-3248-4D8D-E27B-361AC508B876}"/>
                </a:ext>
              </a:extLst>
            </p:cNvPr>
            <p:cNvSpPr/>
            <p:nvPr/>
          </p:nvSpPr>
          <p:spPr>
            <a:xfrm>
              <a:off x="9464616" y="1227549"/>
              <a:ext cx="414403" cy="41440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741942DA-0D42-C8C1-4C39-74AC5846DB2A}"/>
              </a:ext>
            </a:extLst>
          </p:cNvPr>
          <p:cNvSpPr txBox="1"/>
          <p:nvPr/>
        </p:nvSpPr>
        <p:spPr>
          <a:xfrm>
            <a:off x="9408328" y="3223116"/>
            <a:ext cx="3029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lash Display Medium" pitchFamily="2" charset="0"/>
              </a:rPr>
              <a:t>Key Route map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BC97405-8FD1-B129-4476-B93ADB12DA05}"/>
              </a:ext>
            </a:extLst>
          </p:cNvPr>
          <p:cNvCxnSpPr>
            <a:cxnSpLocks/>
            <a:endCxn id="48" idx="2"/>
          </p:cNvCxnSpPr>
          <p:nvPr/>
        </p:nvCxnSpPr>
        <p:spPr>
          <a:xfrm flipV="1">
            <a:off x="10825484" y="2194594"/>
            <a:ext cx="495380" cy="6564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F07EAB-2FE1-A6BC-8318-935BF6D37F9B}"/>
              </a:ext>
            </a:extLst>
          </p:cNvPr>
          <p:cNvCxnSpPr>
            <a:cxnSpLocks/>
          </p:cNvCxnSpPr>
          <p:nvPr/>
        </p:nvCxnSpPr>
        <p:spPr>
          <a:xfrm flipV="1">
            <a:off x="11428694" y="1913981"/>
            <a:ext cx="466188" cy="287177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522812DB-7506-9DC7-CEF7-9BE167AEF656}"/>
              </a:ext>
            </a:extLst>
          </p:cNvPr>
          <p:cNvSpPr/>
          <p:nvPr/>
        </p:nvSpPr>
        <p:spPr>
          <a:xfrm>
            <a:off x="11838741" y="1867813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8EB0C63-A399-5320-C2F0-7BEC8EDDCDF4}"/>
              </a:ext>
            </a:extLst>
          </p:cNvPr>
          <p:cNvSpPr/>
          <p:nvPr/>
        </p:nvSpPr>
        <p:spPr>
          <a:xfrm>
            <a:off x="11921614" y="1468194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F57A0F-29EE-6974-7B1D-AF9C9283308C}"/>
              </a:ext>
            </a:extLst>
          </p:cNvPr>
          <p:cNvCxnSpPr>
            <a:cxnSpLocks/>
            <a:endCxn id="13" idx="4"/>
          </p:cNvCxnSpPr>
          <p:nvPr/>
        </p:nvCxnSpPr>
        <p:spPr>
          <a:xfrm flipV="1">
            <a:off x="11910441" y="1563770"/>
            <a:ext cx="58961" cy="304043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4898FDC-F36F-189B-4D98-8009AB62C639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11724548" y="1297021"/>
            <a:ext cx="211063" cy="185170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52E0BB-3642-AC6E-3483-AF85B12F6D0F}"/>
              </a:ext>
            </a:extLst>
          </p:cNvPr>
          <p:cNvCxnSpPr>
            <a:cxnSpLocks/>
            <a:stCxn id="6" idx="1"/>
            <a:endCxn id="10" idx="5"/>
          </p:cNvCxnSpPr>
          <p:nvPr/>
        </p:nvCxnSpPr>
        <p:spPr>
          <a:xfrm flipH="1" flipV="1">
            <a:off x="11218275" y="1033332"/>
            <a:ext cx="361172" cy="136344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EA16217A-C7CE-BE8D-A262-9A9363AEFCE8}"/>
              </a:ext>
            </a:extLst>
          </p:cNvPr>
          <p:cNvSpPr/>
          <p:nvPr/>
        </p:nvSpPr>
        <p:spPr>
          <a:xfrm>
            <a:off x="11428694" y="914672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8993020-A062-6438-6CBB-2CE85A31D396}"/>
              </a:ext>
            </a:extLst>
          </p:cNvPr>
          <p:cNvCxnSpPr>
            <a:cxnSpLocks/>
          </p:cNvCxnSpPr>
          <p:nvPr/>
        </p:nvCxnSpPr>
        <p:spPr>
          <a:xfrm flipV="1">
            <a:off x="11447415" y="992978"/>
            <a:ext cx="22139" cy="134924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AC63D95E-D8D3-A03F-11DB-6815A78E0565}"/>
              </a:ext>
            </a:extLst>
          </p:cNvPr>
          <p:cNvSpPr/>
          <p:nvPr/>
        </p:nvSpPr>
        <p:spPr>
          <a:xfrm>
            <a:off x="11140290" y="579899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57721F9-356A-E269-691A-494DCD8DE690}"/>
              </a:ext>
            </a:extLst>
          </p:cNvPr>
          <p:cNvSpPr/>
          <p:nvPr/>
        </p:nvSpPr>
        <p:spPr>
          <a:xfrm>
            <a:off x="11320864" y="717911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3311132-6BC1-F2F0-81AD-1B3682B27E8A}"/>
              </a:ext>
            </a:extLst>
          </p:cNvPr>
          <p:cNvSpPr/>
          <p:nvPr/>
        </p:nvSpPr>
        <p:spPr>
          <a:xfrm>
            <a:off x="10918974" y="439672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7D9EFBF-DE90-2E33-639F-525B868074AC}"/>
              </a:ext>
            </a:extLst>
          </p:cNvPr>
          <p:cNvSpPr/>
          <p:nvPr/>
        </p:nvSpPr>
        <p:spPr>
          <a:xfrm>
            <a:off x="10966762" y="620246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5FA8B28-64B9-EA6C-12ED-7D17C7EA3DDB}"/>
              </a:ext>
            </a:extLst>
          </p:cNvPr>
          <p:cNvCxnSpPr>
            <a:cxnSpLocks/>
            <a:endCxn id="18" idx="4"/>
          </p:cNvCxnSpPr>
          <p:nvPr/>
        </p:nvCxnSpPr>
        <p:spPr>
          <a:xfrm flipH="1" flipV="1">
            <a:off x="10966762" y="535248"/>
            <a:ext cx="143622" cy="352983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F55B8D9-BE17-268C-4ECF-19372EAF88F9}"/>
              </a:ext>
            </a:extLst>
          </p:cNvPr>
          <p:cNvCxnSpPr>
            <a:cxnSpLocks/>
            <a:endCxn id="15" idx="4"/>
          </p:cNvCxnSpPr>
          <p:nvPr/>
        </p:nvCxnSpPr>
        <p:spPr>
          <a:xfrm flipH="1" flipV="1">
            <a:off x="11188078" y="675475"/>
            <a:ext cx="15190" cy="204599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32A7CB0-41B4-2CC7-D0DB-898A0910571B}"/>
              </a:ext>
            </a:extLst>
          </p:cNvPr>
          <p:cNvCxnSpPr>
            <a:cxnSpLocks/>
          </p:cNvCxnSpPr>
          <p:nvPr/>
        </p:nvCxnSpPr>
        <p:spPr>
          <a:xfrm>
            <a:off x="11235866" y="646333"/>
            <a:ext cx="95134" cy="69489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6784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146F7-B2F8-C916-1507-7B386F8D1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55D50A3-321B-65DE-CB8B-C369AE22DF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CA4628B-8874-8828-4377-52B4AD7FB5BF}"/>
              </a:ext>
            </a:extLst>
          </p:cNvPr>
          <p:cNvSpPr/>
          <p:nvPr/>
        </p:nvSpPr>
        <p:spPr>
          <a:xfrm>
            <a:off x="9408328" y="0"/>
            <a:ext cx="27836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D173FD-18E3-8BC6-9B44-72364534A6D1}"/>
              </a:ext>
            </a:extLst>
          </p:cNvPr>
          <p:cNvSpPr txBox="1"/>
          <p:nvPr/>
        </p:nvSpPr>
        <p:spPr>
          <a:xfrm>
            <a:off x="9458840" y="5842335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A74DD6-BB38-CF06-20E7-351ECA4A1269}"/>
              </a:ext>
            </a:extLst>
          </p:cNvPr>
          <p:cNvSpPr txBox="1"/>
          <p:nvPr/>
        </p:nvSpPr>
        <p:spPr>
          <a:xfrm>
            <a:off x="9187712" y="6165501"/>
            <a:ext cx="3029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31 Dec’ 26</a:t>
            </a:r>
          </a:p>
          <a:p>
            <a:pPr algn="r"/>
            <a:r>
              <a:rPr lang="en-US" dirty="0">
                <a:latin typeface="Clash Display Light" pitchFamily="2" charset="0"/>
              </a:rPr>
              <a:t>Kaza to </a:t>
            </a:r>
            <a:r>
              <a:rPr lang="en-US" dirty="0" err="1">
                <a:latin typeface="Clash Display Light" pitchFamily="2" charset="0"/>
              </a:rPr>
              <a:t>Chitkul</a:t>
            </a:r>
            <a:endParaRPr lang="en-US" dirty="0">
              <a:latin typeface="Clash Display Light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32183A-9989-8834-A997-695F13747DBD}"/>
              </a:ext>
            </a:extLst>
          </p:cNvPr>
          <p:cNvSpPr txBox="1"/>
          <p:nvPr/>
        </p:nvSpPr>
        <p:spPr>
          <a:xfrm>
            <a:off x="133350" y="208204"/>
            <a:ext cx="11506200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Kaza to Key Monastery &amp; </a:t>
            </a:r>
            <a:r>
              <a:rPr lang="en-US" sz="2000" dirty="0" err="1">
                <a:solidFill>
                  <a:schemeClr val="bg1"/>
                </a:solidFill>
                <a:latin typeface="Clash Display Semibold" pitchFamily="2" charset="0"/>
              </a:rPr>
              <a:t>Chichham</a:t>
            </a:r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 Bridge (Subject to accessibility </a:t>
            </a:r>
          </a:p>
          <a:p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due to snowfall)</a:t>
            </a: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OR</a:t>
            </a: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Return towards Shimla and take a de-tour to </a:t>
            </a:r>
            <a:r>
              <a:rPr lang="en-US" sz="2000" dirty="0" err="1">
                <a:solidFill>
                  <a:schemeClr val="bg1"/>
                </a:solidFill>
                <a:latin typeface="Clash Display Semibold" pitchFamily="2" charset="0"/>
              </a:rPr>
              <a:t>Chitkul</a:t>
            </a:r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Stay back in Kaza and explore places in and around Kaza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Spots in Kaza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Kaza to Key Monastery (45 mins)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Time span in Key Monastery (1 to 1.25 hours)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Key Monastery to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Chichham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Bridge (30 mins)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Time span in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Chichham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Bridge (1 hour)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Leave at 7.00 am sharp only then we will be able to cover all these spots and these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       spots again are the heart of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spiti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valley and the circuit &amp; then return towards Shimla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      &amp; take a de-tour to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Chitkul</a:t>
            </a: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Chichham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Bridge to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Chitkul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distance – 277 kms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Time as per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Gmaps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– 9 hours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Actual time – 11 hours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Reach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chitkul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by 10 pm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If the weather conditions don’t permit then we can take a stay in Tabo/Nako/Kalpa</a:t>
            </a:r>
            <a:endParaRPr lang="en-US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154E5E0-C836-7826-CABD-6D1647F93438}"/>
              </a:ext>
            </a:extLst>
          </p:cNvPr>
          <p:cNvSpPr txBox="1"/>
          <p:nvPr/>
        </p:nvSpPr>
        <p:spPr>
          <a:xfrm>
            <a:off x="9408328" y="3223116"/>
            <a:ext cx="3029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lash Display Medium" pitchFamily="2" charset="0"/>
              </a:rPr>
              <a:t>Key Route map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700C0FA-2E5D-E049-4841-BF1DD7E20C02}"/>
              </a:ext>
            </a:extLst>
          </p:cNvPr>
          <p:cNvGrpSpPr/>
          <p:nvPr/>
        </p:nvGrpSpPr>
        <p:grpSpPr>
          <a:xfrm>
            <a:off x="9408328" y="384666"/>
            <a:ext cx="2783672" cy="2838450"/>
            <a:chOff x="5406189" y="-1"/>
            <a:chExt cx="6785811" cy="6919343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8D2D29B-8A39-E525-6084-5696718880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406189" y="-1"/>
              <a:ext cx="6785811" cy="6919343"/>
            </a:xfrm>
            <a:prstGeom prst="rect">
              <a:avLst/>
            </a:prstGeom>
          </p:spPr>
        </p:pic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A13B43D-871B-76C9-55C3-63573FBE6847}"/>
                </a:ext>
              </a:extLst>
            </p:cNvPr>
            <p:cNvSpPr/>
            <p:nvPr/>
          </p:nvSpPr>
          <p:spPr>
            <a:xfrm>
              <a:off x="6183229" y="6296922"/>
              <a:ext cx="224589" cy="22458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7CD142E-027C-8DEB-8620-37176AF1BC90}"/>
                </a:ext>
              </a:extLst>
            </p:cNvPr>
            <p:cNvSpPr/>
            <p:nvPr/>
          </p:nvSpPr>
          <p:spPr>
            <a:xfrm>
              <a:off x="8635001" y="4311602"/>
              <a:ext cx="232988" cy="23298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69B2128-C954-B3C6-D281-D7BC00849DA7}"/>
                </a:ext>
              </a:extLst>
            </p:cNvPr>
            <p:cNvCxnSpPr>
              <a:cxnSpLocks/>
              <a:stCxn id="18" idx="7"/>
              <a:endCxn id="20" idx="3"/>
            </p:cNvCxnSpPr>
            <p:nvPr/>
          </p:nvCxnSpPr>
          <p:spPr>
            <a:xfrm flipV="1">
              <a:off x="6374927" y="4510471"/>
              <a:ext cx="2294194" cy="1819343"/>
            </a:xfrm>
            <a:prstGeom prst="line">
              <a:avLst/>
            </a:prstGeom>
            <a:ln w="38100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5DBCF39-EB55-D350-EACF-D187A4E4B87E}"/>
                </a:ext>
              </a:extLst>
            </p:cNvPr>
            <p:cNvSpPr/>
            <p:nvPr/>
          </p:nvSpPr>
          <p:spPr>
            <a:xfrm>
              <a:off x="10068415" y="4204893"/>
              <a:ext cx="414403" cy="41440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DA0BDC6-429F-B8AA-4483-7BBCB6B4CEC3}"/>
                </a:ext>
              </a:extLst>
            </p:cNvPr>
            <p:cNvSpPr/>
            <p:nvPr/>
          </p:nvSpPr>
          <p:spPr>
            <a:xfrm>
              <a:off x="10638081" y="1852946"/>
              <a:ext cx="414403" cy="41440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D26864-6585-C095-65AA-7634A670745A}"/>
                </a:ext>
              </a:extLst>
            </p:cNvPr>
            <p:cNvSpPr/>
            <p:nvPr/>
          </p:nvSpPr>
          <p:spPr>
            <a:xfrm>
              <a:off x="9464616" y="1227549"/>
              <a:ext cx="414403" cy="41440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EEFB598-D651-CBDA-C328-AF2BDE9C3BA2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10825484" y="2194594"/>
            <a:ext cx="495380" cy="6564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91670CB-687F-CE03-E3DF-DFE3D5D975A9}"/>
              </a:ext>
            </a:extLst>
          </p:cNvPr>
          <p:cNvCxnSpPr>
            <a:cxnSpLocks/>
          </p:cNvCxnSpPr>
          <p:nvPr/>
        </p:nvCxnSpPr>
        <p:spPr>
          <a:xfrm flipV="1">
            <a:off x="11428694" y="1913981"/>
            <a:ext cx="466188" cy="287177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274C8443-2149-F777-CCE1-F12B9C753F9D}"/>
              </a:ext>
            </a:extLst>
          </p:cNvPr>
          <p:cNvSpPr/>
          <p:nvPr/>
        </p:nvSpPr>
        <p:spPr>
          <a:xfrm>
            <a:off x="11838741" y="1867813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EA6244B-3E0D-505B-650C-0D5E38AAF378}"/>
              </a:ext>
            </a:extLst>
          </p:cNvPr>
          <p:cNvSpPr/>
          <p:nvPr/>
        </p:nvSpPr>
        <p:spPr>
          <a:xfrm>
            <a:off x="11921614" y="1468194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B5E2D67-59F4-2038-0925-89B604407A54}"/>
              </a:ext>
            </a:extLst>
          </p:cNvPr>
          <p:cNvCxnSpPr>
            <a:cxnSpLocks/>
            <a:endCxn id="31" idx="4"/>
          </p:cNvCxnSpPr>
          <p:nvPr/>
        </p:nvCxnSpPr>
        <p:spPr>
          <a:xfrm flipV="1">
            <a:off x="11910441" y="1563770"/>
            <a:ext cx="58961" cy="304043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540B81E-3027-F4EF-1436-3B6A0223E1ED}"/>
              </a:ext>
            </a:extLst>
          </p:cNvPr>
          <p:cNvCxnSpPr>
            <a:cxnSpLocks/>
            <a:stCxn id="31" idx="1"/>
          </p:cNvCxnSpPr>
          <p:nvPr/>
        </p:nvCxnSpPr>
        <p:spPr>
          <a:xfrm flipH="1" flipV="1">
            <a:off x="11724548" y="1297021"/>
            <a:ext cx="211063" cy="185170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4BD23C-586F-40A2-7DA4-3BD7C2BF1A1B}"/>
              </a:ext>
            </a:extLst>
          </p:cNvPr>
          <p:cNvCxnSpPr>
            <a:cxnSpLocks/>
            <a:stCxn id="26" idx="1"/>
            <a:endCxn id="27" idx="5"/>
          </p:cNvCxnSpPr>
          <p:nvPr/>
        </p:nvCxnSpPr>
        <p:spPr>
          <a:xfrm flipH="1" flipV="1">
            <a:off x="11218275" y="1033332"/>
            <a:ext cx="361172" cy="136344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53826D69-C6D9-B895-7321-F983F2882839}"/>
              </a:ext>
            </a:extLst>
          </p:cNvPr>
          <p:cNvSpPr/>
          <p:nvPr/>
        </p:nvSpPr>
        <p:spPr>
          <a:xfrm>
            <a:off x="11428694" y="914672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B8DE2FC-5595-E8E6-2659-4BA13DBAF21E}"/>
              </a:ext>
            </a:extLst>
          </p:cNvPr>
          <p:cNvCxnSpPr>
            <a:cxnSpLocks/>
          </p:cNvCxnSpPr>
          <p:nvPr/>
        </p:nvCxnSpPr>
        <p:spPr>
          <a:xfrm flipV="1">
            <a:off x="11447415" y="992978"/>
            <a:ext cx="22139" cy="134924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8DC086BB-14E4-D1A7-A914-7D811BB19AA5}"/>
              </a:ext>
            </a:extLst>
          </p:cNvPr>
          <p:cNvSpPr/>
          <p:nvPr/>
        </p:nvSpPr>
        <p:spPr>
          <a:xfrm>
            <a:off x="11140290" y="579899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A52BC04-EF9A-0A68-3EE3-39FBC4E4794F}"/>
              </a:ext>
            </a:extLst>
          </p:cNvPr>
          <p:cNvSpPr/>
          <p:nvPr/>
        </p:nvSpPr>
        <p:spPr>
          <a:xfrm>
            <a:off x="11320864" y="717911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610DDF7-412F-BE05-DD4D-519569599D19}"/>
              </a:ext>
            </a:extLst>
          </p:cNvPr>
          <p:cNvSpPr/>
          <p:nvPr/>
        </p:nvSpPr>
        <p:spPr>
          <a:xfrm>
            <a:off x="10918974" y="439672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1B4A0D8-3E37-FD0B-47B0-A9C9AC9E57EE}"/>
              </a:ext>
            </a:extLst>
          </p:cNvPr>
          <p:cNvSpPr/>
          <p:nvPr/>
        </p:nvSpPr>
        <p:spPr>
          <a:xfrm>
            <a:off x="10966762" y="620246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C22925F-C5F0-21AA-8FDC-3B395DB9AAD6}"/>
              </a:ext>
            </a:extLst>
          </p:cNvPr>
          <p:cNvCxnSpPr>
            <a:cxnSpLocks/>
            <a:endCxn id="40" idx="4"/>
          </p:cNvCxnSpPr>
          <p:nvPr/>
        </p:nvCxnSpPr>
        <p:spPr>
          <a:xfrm flipH="1" flipV="1">
            <a:off x="10966762" y="535248"/>
            <a:ext cx="143622" cy="352983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DAF90FE-069C-E7B8-5B8D-2F43E294555D}"/>
              </a:ext>
            </a:extLst>
          </p:cNvPr>
          <p:cNvCxnSpPr>
            <a:cxnSpLocks/>
            <a:endCxn id="38" idx="4"/>
          </p:cNvCxnSpPr>
          <p:nvPr/>
        </p:nvCxnSpPr>
        <p:spPr>
          <a:xfrm flipH="1" flipV="1">
            <a:off x="11188078" y="675475"/>
            <a:ext cx="15190" cy="204599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535D1A3-AF8C-094D-D4D4-0149ABCC4E63}"/>
              </a:ext>
            </a:extLst>
          </p:cNvPr>
          <p:cNvCxnSpPr>
            <a:cxnSpLocks/>
          </p:cNvCxnSpPr>
          <p:nvPr/>
        </p:nvCxnSpPr>
        <p:spPr>
          <a:xfrm>
            <a:off x="11235866" y="646333"/>
            <a:ext cx="95134" cy="69489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B6568BF6-079D-34AB-7E61-3A73256B9D43}"/>
              </a:ext>
            </a:extLst>
          </p:cNvPr>
          <p:cNvSpPr/>
          <p:nvPr/>
        </p:nvSpPr>
        <p:spPr>
          <a:xfrm>
            <a:off x="11587675" y="2505727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C44173F-38D9-6F5F-758E-43B7FF6FE8A7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10732850" y="827046"/>
            <a:ext cx="902613" cy="1678681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DB4CA21-9FEE-BECC-1601-E49FBD32392B}"/>
              </a:ext>
            </a:extLst>
          </p:cNvPr>
          <p:cNvCxnSpPr>
            <a:cxnSpLocks/>
            <a:endCxn id="40" idx="0"/>
          </p:cNvCxnSpPr>
          <p:nvPr/>
        </p:nvCxnSpPr>
        <p:spPr>
          <a:xfrm flipV="1">
            <a:off x="10730296" y="439672"/>
            <a:ext cx="236466" cy="418742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788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E27B9-C94A-E4A8-CF23-0C998A7D0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373195-640A-5D0A-DEDE-AABB664E1BD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2CC15E0-0719-818F-57BB-0096ABFAEEA7}"/>
              </a:ext>
            </a:extLst>
          </p:cNvPr>
          <p:cNvSpPr/>
          <p:nvPr/>
        </p:nvSpPr>
        <p:spPr>
          <a:xfrm>
            <a:off x="9408328" y="0"/>
            <a:ext cx="27836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D233FE-B223-0418-82BA-D6881BE32601}"/>
              </a:ext>
            </a:extLst>
          </p:cNvPr>
          <p:cNvSpPr txBox="1"/>
          <p:nvPr/>
        </p:nvSpPr>
        <p:spPr>
          <a:xfrm>
            <a:off x="9458840" y="5842335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4C4807-594F-9A81-C9B1-D098BC28B532}"/>
              </a:ext>
            </a:extLst>
          </p:cNvPr>
          <p:cNvSpPr txBox="1"/>
          <p:nvPr/>
        </p:nvSpPr>
        <p:spPr>
          <a:xfrm>
            <a:off x="9187712" y="6165501"/>
            <a:ext cx="3029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01 Jan’ 27</a:t>
            </a:r>
          </a:p>
          <a:p>
            <a:pPr algn="r"/>
            <a:r>
              <a:rPr lang="en-US" dirty="0" err="1">
                <a:latin typeface="Clash Display Light" pitchFamily="2" charset="0"/>
              </a:rPr>
              <a:t>Chitkul</a:t>
            </a:r>
            <a:r>
              <a:rPr lang="en-US" dirty="0">
                <a:latin typeface="Clash Display Light" pitchFamily="2" charset="0"/>
              </a:rPr>
              <a:t> to Shimla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FC8529-DE4A-98B4-2664-04793FD7D669}"/>
              </a:ext>
            </a:extLst>
          </p:cNvPr>
          <p:cNvSpPr txBox="1"/>
          <p:nvPr/>
        </p:nvSpPr>
        <p:spPr>
          <a:xfrm>
            <a:off x="133350" y="208204"/>
            <a:ext cx="115062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  <a:latin typeface="Clash Display Semibold" pitchFamily="2" charset="0"/>
              </a:rPr>
              <a:t>Chitkul</a:t>
            </a:r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 Exploration &amp; Return to Shimla</a:t>
            </a: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Stay back in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Chitkul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and explore places in and around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Chitkul</a:t>
            </a: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Spots in Kaza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2/3 spots to be covered max 3 hours for it will be sufficient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Take a stay in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Chitkul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Wake up, chill, rest, hop cafes, do whatever the fuck you want to do man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     Explore near by treks, spots etc.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Clash Display Semibold" pitchFamily="2" charset="0"/>
              </a:rPr>
              <a:t>Happy new year 2027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3826F67-6552-D918-70B9-B86FF18D8610}"/>
              </a:ext>
            </a:extLst>
          </p:cNvPr>
          <p:cNvSpPr txBox="1"/>
          <p:nvPr/>
        </p:nvSpPr>
        <p:spPr>
          <a:xfrm>
            <a:off x="9408328" y="3223116"/>
            <a:ext cx="3029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lash Display Medium" pitchFamily="2" charset="0"/>
              </a:rPr>
              <a:t>Key Route map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B386E2A-3C61-3996-93AB-C2AAD36BA3F6}"/>
              </a:ext>
            </a:extLst>
          </p:cNvPr>
          <p:cNvGrpSpPr/>
          <p:nvPr/>
        </p:nvGrpSpPr>
        <p:grpSpPr>
          <a:xfrm>
            <a:off x="9408328" y="384666"/>
            <a:ext cx="2783672" cy="2838450"/>
            <a:chOff x="5406189" y="-1"/>
            <a:chExt cx="6785811" cy="6919343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CC90A23-78C8-B20C-5751-ECC4D9231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406189" y="-1"/>
              <a:ext cx="6785811" cy="6919343"/>
            </a:xfrm>
            <a:prstGeom prst="rect">
              <a:avLst/>
            </a:prstGeom>
          </p:spPr>
        </p:pic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1C8B82E-EAF3-D972-0874-7DCE7D75ED0B}"/>
                </a:ext>
              </a:extLst>
            </p:cNvPr>
            <p:cNvSpPr/>
            <p:nvPr/>
          </p:nvSpPr>
          <p:spPr>
            <a:xfrm>
              <a:off x="6183229" y="6296922"/>
              <a:ext cx="224589" cy="22458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406B7E3-1DB7-5311-7928-0E35D599FF81}"/>
                </a:ext>
              </a:extLst>
            </p:cNvPr>
            <p:cNvSpPr/>
            <p:nvPr/>
          </p:nvSpPr>
          <p:spPr>
            <a:xfrm>
              <a:off x="8635001" y="4311602"/>
              <a:ext cx="232988" cy="23298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EB09CC6-342D-4D72-A66E-B8BCEA287FD4}"/>
                </a:ext>
              </a:extLst>
            </p:cNvPr>
            <p:cNvCxnSpPr>
              <a:cxnSpLocks/>
              <a:stCxn id="18" idx="7"/>
              <a:endCxn id="20" idx="3"/>
            </p:cNvCxnSpPr>
            <p:nvPr/>
          </p:nvCxnSpPr>
          <p:spPr>
            <a:xfrm flipV="1">
              <a:off x="6374927" y="4510471"/>
              <a:ext cx="2294194" cy="1819343"/>
            </a:xfrm>
            <a:prstGeom prst="line">
              <a:avLst/>
            </a:prstGeom>
            <a:ln w="38100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682F823-62B5-DD03-F177-16182DF5C25A}"/>
                </a:ext>
              </a:extLst>
            </p:cNvPr>
            <p:cNvSpPr/>
            <p:nvPr/>
          </p:nvSpPr>
          <p:spPr>
            <a:xfrm>
              <a:off x="10068415" y="4204893"/>
              <a:ext cx="414403" cy="41440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D2FFE90-A452-5803-E379-71FD6B81D5E3}"/>
                </a:ext>
              </a:extLst>
            </p:cNvPr>
            <p:cNvSpPr/>
            <p:nvPr/>
          </p:nvSpPr>
          <p:spPr>
            <a:xfrm>
              <a:off x="10638081" y="1852946"/>
              <a:ext cx="414403" cy="41440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CAC0F17-6510-E85A-08D7-D9270AB15FEC}"/>
                </a:ext>
              </a:extLst>
            </p:cNvPr>
            <p:cNvSpPr/>
            <p:nvPr/>
          </p:nvSpPr>
          <p:spPr>
            <a:xfrm>
              <a:off x="9464616" y="1227549"/>
              <a:ext cx="414403" cy="41440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8954E12-7A7D-F9AE-7126-A9C18B0384F3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10825484" y="2194594"/>
            <a:ext cx="495380" cy="6564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B1B59EA-9026-D731-C448-54B0272809A0}"/>
              </a:ext>
            </a:extLst>
          </p:cNvPr>
          <p:cNvCxnSpPr>
            <a:cxnSpLocks/>
          </p:cNvCxnSpPr>
          <p:nvPr/>
        </p:nvCxnSpPr>
        <p:spPr>
          <a:xfrm flipV="1">
            <a:off x="11428694" y="1913981"/>
            <a:ext cx="466188" cy="287177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C24DC917-4B85-098B-F105-7D16A95ABC0C}"/>
              </a:ext>
            </a:extLst>
          </p:cNvPr>
          <p:cNvSpPr/>
          <p:nvPr/>
        </p:nvSpPr>
        <p:spPr>
          <a:xfrm>
            <a:off x="11838741" y="1867813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1F3A397-161D-27FA-888D-B30A93B37BFC}"/>
              </a:ext>
            </a:extLst>
          </p:cNvPr>
          <p:cNvSpPr/>
          <p:nvPr/>
        </p:nvSpPr>
        <p:spPr>
          <a:xfrm>
            <a:off x="11921614" y="1468194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BE35F74-1DC6-E08B-CE3F-4137414C9A4F}"/>
              </a:ext>
            </a:extLst>
          </p:cNvPr>
          <p:cNvCxnSpPr>
            <a:cxnSpLocks/>
            <a:endCxn id="31" idx="4"/>
          </p:cNvCxnSpPr>
          <p:nvPr/>
        </p:nvCxnSpPr>
        <p:spPr>
          <a:xfrm flipV="1">
            <a:off x="11910441" y="1563770"/>
            <a:ext cx="58961" cy="304043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B250F06-082A-24AF-DD65-8B42586C9BCF}"/>
              </a:ext>
            </a:extLst>
          </p:cNvPr>
          <p:cNvCxnSpPr>
            <a:cxnSpLocks/>
            <a:stCxn id="31" idx="1"/>
          </p:cNvCxnSpPr>
          <p:nvPr/>
        </p:nvCxnSpPr>
        <p:spPr>
          <a:xfrm flipH="1" flipV="1">
            <a:off x="11724548" y="1297021"/>
            <a:ext cx="211063" cy="185170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3A62638-589A-04C0-9601-0D1B22ABB968}"/>
              </a:ext>
            </a:extLst>
          </p:cNvPr>
          <p:cNvCxnSpPr>
            <a:cxnSpLocks/>
            <a:stCxn id="26" idx="1"/>
            <a:endCxn id="27" idx="5"/>
          </p:cNvCxnSpPr>
          <p:nvPr/>
        </p:nvCxnSpPr>
        <p:spPr>
          <a:xfrm flipH="1" flipV="1">
            <a:off x="11218275" y="1033332"/>
            <a:ext cx="361172" cy="136344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B5FB4232-19F8-C9E0-6690-DA1A6D705EA3}"/>
              </a:ext>
            </a:extLst>
          </p:cNvPr>
          <p:cNvSpPr/>
          <p:nvPr/>
        </p:nvSpPr>
        <p:spPr>
          <a:xfrm>
            <a:off x="11428694" y="914672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BA9D85D-E585-32E6-A7A0-4D7672A37BE5}"/>
              </a:ext>
            </a:extLst>
          </p:cNvPr>
          <p:cNvCxnSpPr>
            <a:cxnSpLocks/>
          </p:cNvCxnSpPr>
          <p:nvPr/>
        </p:nvCxnSpPr>
        <p:spPr>
          <a:xfrm flipV="1">
            <a:off x="11447415" y="992978"/>
            <a:ext cx="22139" cy="134924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94E4A4CA-0D70-A973-84A3-5CF51FFD65E4}"/>
              </a:ext>
            </a:extLst>
          </p:cNvPr>
          <p:cNvSpPr/>
          <p:nvPr/>
        </p:nvSpPr>
        <p:spPr>
          <a:xfrm>
            <a:off x="11140290" y="579899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4D0648F-1457-82B5-E2BC-B9C7DFDC95CF}"/>
              </a:ext>
            </a:extLst>
          </p:cNvPr>
          <p:cNvSpPr/>
          <p:nvPr/>
        </p:nvSpPr>
        <p:spPr>
          <a:xfrm>
            <a:off x="11320864" y="717911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E86FF93-9C87-CFB5-B011-938D288BC391}"/>
              </a:ext>
            </a:extLst>
          </p:cNvPr>
          <p:cNvSpPr/>
          <p:nvPr/>
        </p:nvSpPr>
        <p:spPr>
          <a:xfrm>
            <a:off x="10918974" y="439672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F5F5E0E-7285-6EB1-7526-1DEA597C5260}"/>
              </a:ext>
            </a:extLst>
          </p:cNvPr>
          <p:cNvSpPr/>
          <p:nvPr/>
        </p:nvSpPr>
        <p:spPr>
          <a:xfrm>
            <a:off x="10966762" y="620246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988C16C-9577-72C4-09B2-37F9944C58D1}"/>
              </a:ext>
            </a:extLst>
          </p:cNvPr>
          <p:cNvCxnSpPr>
            <a:cxnSpLocks/>
            <a:endCxn id="40" idx="4"/>
          </p:cNvCxnSpPr>
          <p:nvPr/>
        </p:nvCxnSpPr>
        <p:spPr>
          <a:xfrm flipH="1" flipV="1">
            <a:off x="10966762" y="535248"/>
            <a:ext cx="143622" cy="352983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F817925-FDA8-BA05-A19D-CF987694036B}"/>
              </a:ext>
            </a:extLst>
          </p:cNvPr>
          <p:cNvCxnSpPr>
            <a:cxnSpLocks/>
            <a:endCxn id="38" idx="4"/>
          </p:cNvCxnSpPr>
          <p:nvPr/>
        </p:nvCxnSpPr>
        <p:spPr>
          <a:xfrm flipH="1" flipV="1">
            <a:off x="11188078" y="675475"/>
            <a:ext cx="15190" cy="204599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5728C49-FA26-A202-51CD-A1EB2D09C9D3}"/>
              </a:ext>
            </a:extLst>
          </p:cNvPr>
          <p:cNvCxnSpPr>
            <a:cxnSpLocks/>
          </p:cNvCxnSpPr>
          <p:nvPr/>
        </p:nvCxnSpPr>
        <p:spPr>
          <a:xfrm>
            <a:off x="11235866" y="646333"/>
            <a:ext cx="95134" cy="69489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3ED404A3-1EE0-F936-F472-7870FE04C087}"/>
              </a:ext>
            </a:extLst>
          </p:cNvPr>
          <p:cNvSpPr/>
          <p:nvPr/>
        </p:nvSpPr>
        <p:spPr>
          <a:xfrm>
            <a:off x="11587675" y="2505727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A1DFC85-A524-BFBE-627E-2FEF1249FB1E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10732850" y="827046"/>
            <a:ext cx="902613" cy="1678681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0D9ACD4-0FFC-8E0C-2074-5756CE97DEE5}"/>
              </a:ext>
            </a:extLst>
          </p:cNvPr>
          <p:cNvCxnSpPr>
            <a:cxnSpLocks/>
            <a:endCxn id="40" idx="0"/>
          </p:cNvCxnSpPr>
          <p:nvPr/>
        </p:nvCxnSpPr>
        <p:spPr>
          <a:xfrm flipV="1">
            <a:off x="10730296" y="439672"/>
            <a:ext cx="236466" cy="418742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EFBB882-A720-57C9-ED94-6D7F68959725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9819216" y="2553515"/>
            <a:ext cx="1768459" cy="414272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116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C68EA-4C32-7CD6-5D8C-988FC037C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5ECD631-3E9F-92D7-7C6B-8145C03A8F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A45AC45-F0AA-07A9-C829-65362B7033B4}"/>
              </a:ext>
            </a:extLst>
          </p:cNvPr>
          <p:cNvSpPr/>
          <p:nvPr/>
        </p:nvSpPr>
        <p:spPr>
          <a:xfrm>
            <a:off x="9408328" y="0"/>
            <a:ext cx="27836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56E741-5A8D-72AA-4B33-90472205FC05}"/>
              </a:ext>
            </a:extLst>
          </p:cNvPr>
          <p:cNvSpPr txBox="1"/>
          <p:nvPr/>
        </p:nvSpPr>
        <p:spPr>
          <a:xfrm>
            <a:off x="9458840" y="5842335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10 &amp; 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2F643E-2FE7-3129-D989-BF457D243A63}"/>
              </a:ext>
            </a:extLst>
          </p:cNvPr>
          <p:cNvSpPr txBox="1"/>
          <p:nvPr/>
        </p:nvSpPr>
        <p:spPr>
          <a:xfrm>
            <a:off x="9187712" y="6165501"/>
            <a:ext cx="3029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02 &amp; 03 Jan’ 27</a:t>
            </a:r>
          </a:p>
          <a:p>
            <a:pPr algn="r"/>
            <a:r>
              <a:rPr lang="en-US" dirty="0" err="1">
                <a:latin typeface="Clash Display Light" pitchFamily="2" charset="0"/>
              </a:rPr>
              <a:t>Chitkul</a:t>
            </a:r>
            <a:r>
              <a:rPr lang="en-US" dirty="0">
                <a:latin typeface="Clash Display Light" pitchFamily="2" charset="0"/>
              </a:rPr>
              <a:t> to Shimla to Delhi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63C808-415F-F835-A7B6-30B50C28622D}"/>
              </a:ext>
            </a:extLst>
          </p:cNvPr>
          <p:cNvSpPr txBox="1"/>
          <p:nvPr/>
        </p:nvSpPr>
        <p:spPr>
          <a:xfrm>
            <a:off x="133350" y="208204"/>
            <a:ext cx="1150620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  <a:latin typeface="Clash Display Semibold" pitchFamily="2" charset="0"/>
              </a:rPr>
              <a:t>Chitkul</a:t>
            </a:r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 Exploration &amp; Return to Shimla &amp; Delhi</a:t>
            </a: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Leave at 8.00 am sharp only then we will be able to cover all the spots return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       towards Shimla  &amp; take a de-tour in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Rakcham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(1 hour)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Chitkul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to Shimla distance – 258 kms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Time as per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Gmaps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– 8.5 hours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Actual time – 10 hours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Reach Shimla by 6/7 pm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Take a return bus to Delhi on the evening of 2</a:t>
            </a:r>
            <a:r>
              <a:rPr lang="en-US" baseline="30000" dirty="0">
                <a:solidFill>
                  <a:schemeClr val="bg1"/>
                </a:solidFill>
                <a:latin typeface="Clash Display Light" pitchFamily="2" charset="0"/>
              </a:rPr>
              <a:t>nd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 Jan 2027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Reach Delhi on 3rd  Jan 2027 around 12pm. Rest, shop again do whatever the fuck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      you want to and then take a late night or early morning flight to Pune on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     4</a:t>
            </a:r>
            <a:r>
              <a:rPr lang="en-US" baseline="30000" dirty="0">
                <a:solidFill>
                  <a:schemeClr val="bg1"/>
                </a:solidFill>
                <a:latin typeface="Clash Display Light" pitchFamily="2" charset="0"/>
              </a:rPr>
              <a:t>th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Jan 2027.</a:t>
            </a:r>
            <a:endParaRPr lang="en-US" dirty="0">
              <a:solidFill>
                <a:schemeClr val="bg1"/>
              </a:solidFill>
              <a:latin typeface="Clash Display Semibold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B378F57-AE37-A582-698E-E2941BC98CD0}"/>
              </a:ext>
            </a:extLst>
          </p:cNvPr>
          <p:cNvSpPr txBox="1"/>
          <p:nvPr/>
        </p:nvSpPr>
        <p:spPr>
          <a:xfrm>
            <a:off x="9408328" y="3223116"/>
            <a:ext cx="3029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lash Display Medium" pitchFamily="2" charset="0"/>
              </a:rPr>
              <a:t>Key Route map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3DB7380-F6E6-4A0B-E4E1-1FDA44E15082}"/>
              </a:ext>
            </a:extLst>
          </p:cNvPr>
          <p:cNvGrpSpPr/>
          <p:nvPr/>
        </p:nvGrpSpPr>
        <p:grpSpPr>
          <a:xfrm>
            <a:off x="9408328" y="384666"/>
            <a:ext cx="2783672" cy="2838450"/>
            <a:chOff x="5406189" y="-1"/>
            <a:chExt cx="6785811" cy="6919343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23E3B62-408E-1307-B303-9AC1CCDE8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406189" y="-1"/>
              <a:ext cx="6785811" cy="6919343"/>
            </a:xfrm>
            <a:prstGeom prst="rect">
              <a:avLst/>
            </a:prstGeom>
          </p:spPr>
        </p:pic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254FB70-04D4-68E2-91BF-56D17058E0EE}"/>
                </a:ext>
              </a:extLst>
            </p:cNvPr>
            <p:cNvSpPr/>
            <p:nvPr/>
          </p:nvSpPr>
          <p:spPr>
            <a:xfrm>
              <a:off x="6183229" y="6296922"/>
              <a:ext cx="224589" cy="22458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1A17637-3C91-94B6-D98C-765E56DE0767}"/>
                </a:ext>
              </a:extLst>
            </p:cNvPr>
            <p:cNvSpPr/>
            <p:nvPr/>
          </p:nvSpPr>
          <p:spPr>
            <a:xfrm>
              <a:off x="8635001" y="4311602"/>
              <a:ext cx="232988" cy="23298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9230AA2-238B-3086-5311-6232A5FB531D}"/>
                </a:ext>
              </a:extLst>
            </p:cNvPr>
            <p:cNvCxnSpPr>
              <a:cxnSpLocks/>
              <a:stCxn id="18" idx="7"/>
              <a:endCxn id="20" idx="3"/>
            </p:cNvCxnSpPr>
            <p:nvPr/>
          </p:nvCxnSpPr>
          <p:spPr>
            <a:xfrm flipV="1">
              <a:off x="6374927" y="4510471"/>
              <a:ext cx="2294194" cy="1819343"/>
            </a:xfrm>
            <a:prstGeom prst="line">
              <a:avLst/>
            </a:prstGeom>
            <a:ln w="38100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2A2BBA1-37B5-4234-9AE3-AC0091ED9248}"/>
                </a:ext>
              </a:extLst>
            </p:cNvPr>
            <p:cNvSpPr/>
            <p:nvPr/>
          </p:nvSpPr>
          <p:spPr>
            <a:xfrm>
              <a:off x="10068415" y="4204893"/>
              <a:ext cx="414403" cy="41440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B2FF40C-3ACB-F9D0-4051-DEE8BA9A5AFD}"/>
                </a:ext>
              </a:extLst>
            </p:cNvPr>
            <p:cNvSpPr/>
            <p:nvPr/>
          </p:nvSpPr>
          <p:spPr>
            <a:xfrm>
              <a:off x="10638081" y="1852946"/>
              <a:ext cx="414403" cy="41440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91D0016-259C-942D-BB43-310B45E56F0C}"/>
                </a:ext>
              </a:extLst>
            </p:cNvPr>
            <p:cNvSpPr/>
            <p:nvPr/>
          </p:nvSpPr>
          <p:spPr>
            <a:xfrm>
              <a:off x="9464616" y="1227549"/>
              <a:ext cx="414403" cy="41440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15D70F8-5011-1CB1-1113-8CA0FBF16D3E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10825484" y="2194594"/>
            <a:ext cx="495380" cy="6564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F438E69-0BD7-0A38-2545-1C0DB8115116}"/>
              </a:ext>
            </a:extLst>
          </p:cNvPr>
          <p:cNvCxnSpPr>
            <a:cxnSpLocks/>
          </p:cNvCxnSpPr>
          <p:nvPr/>
        </p:nvCxnSpPr>
        <p:spPr>
          <a:xfrm flipV="1">
            <a:off x="11428694" y="1913981"/>
            <a:ext cx="466188" cy="287177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2274541B-EB50-401D-8074-BDA14F022056}"/>
              </a:ext>
            </a:extLst>
          </p:cNvPr>
          <p:cNvSpPr/>
          <p:nvPr/>
        </p:nvSpPr>
        <p:spPr>
          <a:xfrm>
            <a:off x="11838741" y="1867813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D636278-1D69-21CB-F32C-69B8D9EE7F7F}"/>
              </a:ext>
            </a:extLst>
          </p:cNvPr>
          <p:cNvSpPr/>
          <p:nvPr/>
        </p:nvSpPr>
        <p:spPr>
          <a:xfrm>
            <a:off x="11921614" y="1468194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2E44338-274F-95EA-45D8-FB0472A8E0E3}"/>
              </a:ext>
            </a:extLst>
          </p:cNvPr>
          <p:cNvCxnSpPr>
            <a:cxnSpLocks/>
            <a:endCxn id="31" idx="4"/>
          </p:cNvCxnSpPr>
          <p:nvPr/>
        </p:nvCxnSpPr>
        <p:spPr>
          <a:xfrm flipV="1">
            <a:off x="11910441" y="1563770"/>
            <a:ext cx="58961" cy="304043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7881AC5-E6E6-36F7-E490-3F02D8DF4A7B}"/>
              </a:ext>
            </a:extLst>
          </p:cNvPr>
          <p:cNvCxnSpPr>
            <a:cxnSpLocks/>
            <a:stCxn id="31" idx="1"/>
          </p:cNvCxnSpPr>
          <p:nvPr/>
        </p:nvCxnSpPr>
        <p:spPr>
          <a:xfrm flipH="1" flipV="1">
            <a:off x="11724548" y="1297021"/>
            <a:ext cx="211063" cy="185170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C56FC00-862F-D19E-8B9C-F56D1E14D0D5}"/>
              </a:ext>
            </a:extLst>
          </p:cNvPr>
          <p:cNvCxnSpPr>
            <a:cxnSpLocks/>
            <a:stCxn id="26" idx="1"/>
            <a:endCxn id="27" idx="5"/>
          </p:cNvCxnSpPr>
          <p:nvPr/>
        </p:nvCxnSpPr>
        <p:spPr>
          <a:xfrm flipH="1" flipV="1">
            <a:off x="11218275" y="1033332"/>
            <a:ext cx="361172" cy="136344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0186DCF4-A666-D00A-25AC-FEAAE5E6B0A6}"/>
              </a:ext>
            </a:extLst>
          </p:cNvPr>
          <p:cNvSpPr/>
          <p:nvPr/>
        </p:nvSpPr>
        <p:spPr>
          <a:xfrm>
            <a:off x="11428694" y="914672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5B1E2E0-AD56-E348-CD37-9C1801793DDA}"/>
              </a:ext>
            </a:extLst>
          </p:cNvPr>
          <p:cNvCxnSpPr>
            <a:cxnSpLocks/>
          </p:cNvCxnSpPr>
          <p:nvPr/>
        </p:nvCxnSpPr>
        <p:spPr>
          <a:xfrm flipV="1">
            <a:off x="11447415" y="992978"/>
            <a:ext cx="22139" cy="134924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AF8CD6E6-2714-C1D3-009C-6521E66C6B95}"/>
              </a:ext>
            </a:extLst>
          </p:cNvPr>
          <p:cNvSpPr/>
          <p:nvPr/>
        </p:nvSpPr>
        <p:spPr>
          <a:xfrm>
            <a:off x="11140290" y="579899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7460EF8-6259-456F-1D4C-71A0EAAA381A}"/>
              </a:ext>
            </a:extLst>
          </p:cNvPr>
          <p:cNvSpPr/>
          <p:nvPr/>
        </p:nvSpPr>
        <p:spPr>
          <a:xfrm>
            <a:off x="11320864" y="717911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9F4442D-F5AC-C6A6-2F71-1E355CF71100}"/>
              </a:ext>
            </a:extLst>
          </p:cNvPr>
          <p:cNvSpPr/>
          <p:nvPr/>
        </p:nvSpPr>
        <p:spPr>
          <a:xfrm>
            <a:off x="10918974" y="439672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341E14E-D349-CC70-7C5B-D2F286F12D2E}"/>
              </a:ext>
            </a:extLst>
          </p:cNvPr>
          <p:cNvSpPr/>
          <p:nvPr/>
        </p:nvSpPr>
        <p:spPr>
          <a:xfrm>
            <a:off x="10966762" y="620246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7476FBA-E187-0563-B3DB-4156E62F5F54}"/>
              </a:ext>
            </a:extLst>
          </p:cNvPr>
          <p:cNvCxnSpPr>
            <a:cxnSpLocks/>
            <a:endCxn id="40" idx="4"/>
          </p:cNvCxnSpPr>
          <p:nvPr/>
        </p:nvCxnSpPr>
        <p:spPr>
          <a:xfrm flipH="1" flipV="1">
            <a:off x="10966762" y="535248"/>
            <a:ext cx="143622" cy="352983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F973CE8-22B0-B468-DB59-6A7305E3D7F9}"/>
              </a:ext>
            </a:extLst>
          </p:cNvPr>
          <p:cNvCxnSpPr>
            <a:cxnSpLocks/>
            <a:endCxn id="38" idx="4"/>
          </p:cNvCxnSpPr>
          <p:nvPr/>
        </p:nvCxnSpPr>
        <p:spPr>
          <a:xfrm flipH="1" flipV="1">
            <a:off x="11188078" y="675475"/>
            <a:ext cx="15190" cy="204599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A0E69B5-DAEB-E7B7-63BE-64CC8F597404}"/>
              </a:ext>
            </a:extLst>
          </p:cNvPr>
          <p:cNvCxnSpPr>
            <a:cxnSpLocks/>
          </p:cNvCxnSpPr>
          <p:nvPr/>
        </p:nvCxnSpPr>
        <p:spPr>
          <a:xfrm>
            <a:off x="11235866" y="646333"/>
            <a:ext cx="95134" cy="69489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9B1D8BAB-E831-A1D7-883E-20E45CC3E999}"/>
              </a:ext>
            </a:extLst>
          </p:cNvPr>
          <p:cNvSpPr/>
          <p:nvPr/>
        </p:nvSpPr>
        <p:spPr>
          <a:xfrm>
            <a:off x="11587675" y="2505727"/>
            <a:ext cx="95576" cy="955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08B93C0-745F-D0F7-EF0E-13F997905044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10732850" y="827046"/>
            <a:ext cx="902613" cy="1678681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6FA21A9-8BDD-AA78-37C9-45A3B6048613}"/>
              </a:ext>
            </a:extLst>
          </p:cNvPr>
          <p:cNvCxnSpPr>
            <a:cxnSpLocks/>
            <a:endCxn id="40" idx="0"/>
          </p:cNvCxnSpPr>
          <p:nvPr/>
        </p:nvCxnSpPr>
        <p:spPr>
          <a:xfrm flipV="1">
            <a:off x="10730296" y="439672"/>
            <a:ext cx="236466" cy="418742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1E62748-933D-A8C6-B052-76976A26A3CF}"/>
              </a:ext>
            </a:extLst>
          </p:cNvPr>
          <p:cNvCxnSpPr>
            <a:cxnSpLocks/>
            <a:endCxn id="47" idx="2"/>
          </p:cNvCxnSpPr>
          <p:nvPr/>
        </p:nvCxnSpPr>
        <p:spPr>
          <a:xfrm flipV="1">
            <a:off x="9819216" y="2553515"/>
            <a:ext cx="1768459" cy="414272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4062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27AC7-699A-8FA8-032C-96ACE6E7A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EBC9F49-D3D7-05FD-061B-2A104FE9E2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8FD2A80-2C8E-2C7C-EEC7-E15A259ACE48}"/>
              </a:ext>
            </a:extLst>
          </p:cNvPr>
          <p:cNvSpPr/>
          <p:nvPr/>
        </p:nvSpPr>
        <p:spPr>
          <a:xfrm>
            <a:off x="9620250" y="6153150"/>
            <a:ext cx="2622262" cy="6967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E226A6-E5E5-A17C-1D6F-F1E642C67BC2}"/>
              </a:ext>
            </a:extLst>
          </p:cNvPr>
          <p:cNvSpPr txBox="1"/>
          <p:nvPr/>
        </p:nvSpPr>
        <p:spPr>
          <a:xfrm>
            <a:off x="9433440" y="6308036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Weather conditions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2C73A9-B941-3597-603C-0D86678D9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180"/>
            <a:ext cx="9616986" cy="483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505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0946D-696A-B237-1334-89588C5AD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93493BB-8021-7EA9-1F73-D55A7FE717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751267-76AE-361E-E097-116EA3BA8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958" y="0"/>
            <a:ext cx="6858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187633-5312-66E1-819E-5D77ADA97892}"/>
              </a:ext>
            </a:extLst>
          </p:cNvPr>
          <p:cNvSpPr txBox="1"/>
          <p:nvPr/>
        </p:nvSpPr>
        <p:spPr>
          <a:xfrm>
            <a:off x="176464" y="3772114"/>
            <a:ext cx="100102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Clash Display Medium" pitchFamily="2" charset="0"/>
              </a:rPr>
              <a:t>Winter  Himachal  </a:t>
            </a:r>
          </a:p>
          <a:p>
            <a:r>
              <a:rPr lang="en-US" sz="6000" dirty="0">
                <a:solidFill>
                  <a:schemeClr val="bg1"/>
                </a:solidFill>
                <a:latin typeface="Clash Display Medium" pitchFamily="2" charset="0"/>
              </a:rPr>
              <a:t>Itinerary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1D7073-DFAC-4072-4893-6DC35D46BD02}"/>
              </a:ext>
            </a:extLst>
          </p:cNvPr>
          <p:cNvSpPr txBox="1"/>
          <p:nvPr/>
        </p:nvSpPr>
        <p:spPr>
          <a:xfrm>
            <a:off x="192506" y="5718218"/>
            <a:ext cx="7170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23 Dec’ 26 – 02 Jan’ 27</a:t>
            </a:r>
          </a:p>
          <a:p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Manali – </a:t>
            </a:r>
            <a:r>
              <a:rPr lang="en-US" sz="2000" dirty="0" err="1">
                <a:solidFill>
                  <a:schemeClr val="bg1"/>
                </a:solidFill>
                <a:latin typeface="Clash Display Light" pitchFamily="2" charset="0"/>
              </a:rPr>
              <a:t>Sissu</a:t>
            </a:r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 – </a:t>
            </a:r>
            <a:r>
              <a:rPr lang="en-US" sz="2000" dirty="0" err="1">
                <a:solidFill>
                  <a:schemeClr val="bg1"/>
                </a:solidFill>
                <a:latin typeface="Clash Display Light" pitchFamily="2" charset="0"/>
              </a:rPr>
              <a:t>Keylong</a:t>
            </a:r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 – </a:t>
            </a:r>
            <a:r>
              <a:rPr lang="en-US" sz="2000" dirty="0" err="1">
                <a:solidFill>
                  <a:schemeClr val="bg1"/>
                </a:solidFill>
                <a:latin typeface="Clash Display Light" pitchFamily="2" charset="0"/>
              </a:rPr>
              <a:t>Jispa</a:t>
            </a:r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 – </a:t>
            </a:r>
            <a:r>
              <a:rPr lang="en-US" sz="2000" dirty="0" err="1">
                <a:solidFill>
                  <a:schemeClr val="bg1"/>
                </a:solidFill>
                <a:latin typeface="Clash Display Light" pitchFamily="2" charset="0"/>
              </a:rPr>
              <a:t>Koksar</a:t>
            </a:r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 - Manali</a:t>
            </a:r>
          </a:p>
        </p:txBody>
      </p:sp>
    </p:spTree>
    <p:extLst>
      <p:ext uri="{BB962C8B-B14F-4D97-AF65-F5344CB8AC3E}">
        <p14:creationId xmlns:p14="http://schemas.microsoft.com/office/powerpoint/2010/main" val="3814315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8C524-79F7-0F13-1840-76EB41CCD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6C8F219-D267-98DB-AE3A-F4A71B321B2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EDB367F-53A7-CECF-EC7A-F0224A6A9875}"/>
              </a:ext>
            </a:extLst>
          </p:cNvPr>
          <p:cNvSpPr/>
          <p:nvPr/>
        </p:nvSpPr>
        <p:spPr>
          <a:xfrm>
            <a:off x="0" y="0"/>
            <a:ext cx="2758560" cy="1266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413C4B-BBFB-F14E-4ED9-B52E0DA0F8F4}"/>
              </a:ext>
            </a:extLst>
          </p:cNvPr>
          <p:cNvSpPr txBox="1"/>
          <p:nvPr/>
        </p:nvSpPr>
        <p:spPr>
          <a:xfrm>
            <a:off x="0" y="5926880"/>
            <a:ext cx="91660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Clash Display Medium" pitchFamily="2" charset="0"/>
              </a:rPr>
              <a:t>Route Map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0D0A649-6353-256C-F68D-A18191DAB9A4}"/>
              </a:ext>
            </a:extLst>
          </p:cNvPr>
          <p:cNvSpPr/>
          <p:nvPr/>
        </p:nvSpPr>
        <p:spPr>
          <a:xfrm>
            <a:off x="170974" y="217501"/>
            <a:ext cx="151693" cy="15169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D9AB45F-1659-A72F-AA7F-353053C06092}"/>
              </a:ext>
            </a:extLst>
          </p:cNvPr>
          <p:cNvSpPr txBox="1"/>
          <p:nvPr/>
        </p:nvSpPr>
        <p:spPr>
          <a:xfrm>
            <a:off x="378313" y="107418"/>
            <a:ext cx="9166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lash Display Light" pitchFamily="2" charset="0"/>
              </a:rPr>
              <a:t>Places to halt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2E16FE-54E7-0FD9-2A4A-FB1F797214D1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6400801" y="-22844"/>
            <a:ext cx="5791200" cy="6923116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D836DB33-C6AB-E18F-3147-C61B0E05D336}"/>
              </a:ext>
            </a:extLst>
          </p:cNvPr>
          <p:cNvSpPr/>
          <p:nvPr/>
        </p:nvSpPr>
        <p:spPr>
          <a:xfrm>
            <a:off x="10193607" y="6216650"/>
            <a:ext cx="182429" cy="18242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483655-7CE0-E452-71B0-CA80D43D11EB}"/>
              </a:ext>
            </a:extLst>
          </p:cNvPr>
          <p:cNvSpPr/>
          <p:nvPr/>
        </p:nvSpPr>
        <p:spPr>
          <a:xfrm>
            <a:off x="9166058" y="2660650"/>
            <a:ext cx="182429" cy="18242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1B6B05-C4E9-9483-81D6-255C8AE82533}"/>
              </a:ext>
            </a:extLst>
          </p:cNvPr>
          <p:cNvSpPr/>
          <p:nvPr/>
        </p:nvSpPr>
        <p:spPr>
          <a:xfrm>
            <a:off x="10702758" y="3613150"/>
            <a:ext cx="182429" cy="18242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C6E8199-2B1A-5942-CA2D-A69AA30CFF0A}"/>
              </a:ext>
            </a:extLst>
          </p:cNvPr>
          <p:cNvSpPr/>
          <p:nvPr/>
        </p:nvSpPr>
        <p:spPr>
          <a:xfrm>
            <a:off x="7451558" y="1498849"/>
            <a:ext cx="182429" cy="18242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62B3F3-2EF6-8F11-2392-7C3C02F01F4E}"/>
              </a:ext>
            </a:extLst>
          </p:cNvPr>
          <p:cNvSpPr/>
          <p:nvPr/>
        </p:nvSpPr>
        <p:spPr>
          <a:xfrm>
            <a:off x="8391358" y="1335719"/>
            <a:ext cx="182429" cy="18242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CE49864-8540-9A56-59A9-747F93982FE6}"/>
              </a:ext>
            </a:extLst>
          </p:cNvPr>
          <p:cNvSpPr/>
          <p:nvPr/>
        </p:nvSpPr>
        <p:spPr>
          <a:xfrm>
            <a:off x="9831469" y="126286"/>
            <a:ext cx="182429" cy="18242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04AEF63-0421-A344-F52A-73E9F1F9B5A9}"/>
              </a:ext>
            </a:extLst>
          </p:cNvPr>
          <p:cNvCxnSpPr>
            <a:cxnSpLocks/>
            <a:endCxn id="8" idx="5"/>
          </p:cNvCxnSpPr>
          <p:nvPr/>
        </p:nvCxnSpPr>
        <p:spPr>
          <a:xfrm flipH="1" flipV="1">
            <a:off x="9321771" y="2816363"/>
            <a:ext cx="871836" cy="3400287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A738F9B-FF6F-F042-256A-B3AE98F77F6C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7633987" y="1426934"/>
            <a:ext cx="757371" cy="163129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4CC2CF2-21F6-4845-DF26-F947937CB471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8539030" y="217501"/>
            <a:ext cx="1292439" cy="115751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FDF7552-2DF9-D422-BAF1-6DEDBF9DE9E6}"/>
              </a:ext>
            </a:extLst>
          </p:cNvPr>
          <p:cNvCxnSpPr>
            <a:cxnSpLocks/>
            <a:stCxn id="8" idx="5"/>
            <a:endCxn id="9" idx="1"/>
          </p:cNvCxnSpPr>
          <p:nvPr/>
        </p:nvCxnSpPr>
        <p:spPr>
          <a:xfrm>
            <a:off x="9321771" y="2816363"/>
            <a:ext cx="1407703" cy="823503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230AABCE-2AD9-4CE4-5C30-0417C9DAE079}"/>
              </a:ext>
            </a:extLst>
          </p:cNvPr>
          <p:cNvSpPr/>
          <p:nvPr/>
        </p:nvSpPr>
        <p:spPr>
          <a:xfrm>
            <a:off x="170974" y="697903"/>
            <a:ext cx="151693" cy="1516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E805B0-2AAE-FF38-442B-84A987EE416C}"/>
              </a:ext>
            </a:extLst>
          </p:cNvPr>
          <p:cNvSpPr txBox="1"/>
          <p:nvPr/>
        </p:nvSpPr>
        <p:spPr>
          <a:xfrm>
            <a:off x="378313" y="584168"/>
            <a:ext cx="9166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lash Display Light" pitchFamily="2" charset="0"/>
              </a:rPr>
              <a:t>De-tour place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1A53E43-7792-91E8-6925-D80FF67C1573}"/>
              </a:ext>
            </a:extLst>
          </p:cNvPr>
          <p:cNvSpPr txBox="1"/>
          <p:nvPr/>
        </p:nvSpPr>
        <p:spPr>
          <a:xfrm>
            <a:off x="10708416" y="3361821"/>
            <a:ext cx="1371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C00000"/>
                </a:solidFill>
                <a:latin typeface="Clash Display Semibold" pitchFamily="2" charset="0"/>
              </a:rPr>
              <a:t>Koksar</a:t>
            </a:r>
            <a:endParaRPr lang="en-US" sz="1200" dirty="0">
              <a:solidFill>
                <a:srgbClr val="C00000"/>
              </a:solidFill>
              <a:latin typeface="Clash Display Semibold" pitchFamily="2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9759E47-AC9C-0369-8835-35E068B62D03}"/>
              </a:ext>
            </a:extLst>
          </p:cNvPr>
          <p:cNvSpPr txBox="1"/>
          <p:nvPr/>
        </p:nvSpPr>
        <p:spPr>
          <a:xfrm>
            <a:off x="10388810" y="6147514"/>
            <a:ext cx="1371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Clash Display Semibold" pitchFamily="2" charset="0"/>
              </a:rPr>
              <a:t>Manali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CD3A3C9-7BF5-EFC5-D69E-29A37BA7FECB}"/>
              </a:ext>
            </a:extLst>
          </p:cNvPr>
          <p:cNvSpPr txBox="1"/>
          <p:nvPr/>
        </p:nvSpPr>
        <p:spPr>
          <a:xfrm>
            <a:off x="9244904" y="2448716"/>
            <a:ext cx="1371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C00000"/>
                </a:solidFill>
                <a:latin typeface="Clash Display Semibold" pitchFamily="2" charset="0"/>
              </a:rPr>
              <a:t>Sissu</a:t>
            </a:r>
            <a:endParaRPr lang="en-US" sz="1200" dirty="0">
              <a:solidFill>
                <a:srgbClr val="C00000"/>
              </a:solidFill>
              <a:latin typeface="Clash Display Semibold" pitchFamily="2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69B0DB-3AA2-EF18-2B69-0808A54A0A80}"/>
              </a:ext>
            </a:extLst>
          </p:cNvPr>
          <p:cNvSpPr txBox="1"/>
          <p:nvPr/>
        </p:nvSpPr>
        <p:spPr>
          <a:xfrm>
            <a:off x="7154204" y="1158847"/>
            <a:ext cx="777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  <a:latin typeface="Clash Display Semibold" pitchFamily="2" charset="0"/>
              </a:rPr>
              <a:t>Tandi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167CB4-64A1-5840-3016-A5B3EF600582}"/>
              </a:ext>
            </a:extLst>
          </p:cNvPr>
          <p:cNvSpPr txBox="1"/>
          <p:nvPr/>
        </p:nvSpPr>
        <p:spPr>
          <a:xfrm>
            <a:off x="8296176" y="1493835"/>
            <a:ext cx="9487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C00000"/>
                </a:solidFill>
                <a:latin typeface="Clash Display Semibold" pitchFamily="2" charset="0"/>
              </a:rPr>
              <a:t>Keylong</a:t>
            </a:r>
            <a:endParaRPr lang="en-US" sz="1200" dirty="0">
              <a:solidFill>
                <a:srgbClr val="C00000"/>
              </a:solidFill>
              <a:latin typeface="Clash Display Semibold" pitchFamily="2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5FDDED3-0D49-4BFD-4934-B2195884F2F6}"/>
              </a:ext>
            </a:extLst>
          </p:cNvPr>
          <p:cNvSpPr txBox="1"/>
          <p:nvPr/>
        </p:nvSpPr>
        <p:spPr>
          <a:xfrm>
            <a:off x="9263943" y="17628"/>
            <a:ext cx="9487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C00000"/>
                </a:solidFill>
                <a:latin typeface="Clash Display Semibold" pitchFamily="2" charset="0"/>
              </a:rPr>
              <a:t>Jispa</a:t>
            </a:r>
            <a:endParaRPr lang="en-US" sz="1200" dirty="0">
              <a:solidFill>
                <a:srgbClr val="C00000"/>
              </a:solidFill>
              <a:latin typeface="Clash Display Semibold" pitchFamily="2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22E6581-178E-69FE-6882-5FC74AD897CB}"/>
              </a:ext>
            </a:extLst>
          </p:cNvPr>
          <p:cNvSpPr/>
          <p:nvPr/>
        </p:nvSpPr>
        <p:spPr>
          <a:xfrm>
            <a:off x="7840125" y="2448623"/>
            <a:ext cx="182429" cy="18242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EF8420C-7DC8-5E48-2FD1-AFE5644C3461}"/>
              </a:ext>
            </a:extLst>
          </p:cNvPr>
          <p:cNvCxnSpPr>
            <a:cxnSpLocks/>
            <a:endCxn id="56" idx="6"/>
          </p:cNvCxnSpPr>
          <p:nvPr/>
        </p:nvCxnSpPr>
        <p:spPr>
          <a:xfrm flipH="1">
            <a:off x="8022554" y="2348104"/>
            <a:ext cx="533986" cy="191734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3A600D7C-AFE8-791C-482E-F580A7BBFB2E}"/>
              </a:ext>
            </a:extLst>
          </p:cNvPr>
          <p:cNvSpPr txBox="1"/>
          <p:nvPr/>
        </p:nvSpPr>
        <p:spPr>
          <a:xfrm>
            <a:off x="7599011" y="2760098"/>
            <a:ext cx="1371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C00000"/>
                </a:solidFill>
                <a:latin typeface="Clash Display Semibold" pitchFamily="2" charset="0"/>
              </a:rPr>
              <a:t>Gondhla</a:t>
            </a:r>
            <a:r>
              <a:rPr lang="en-US" sz="1200" dirty="0">
                <a:solidFill>
                  <a:srgbClr val="C00000"/>
                </a:solidFill>
                <a:latin typeface="Clash Display Semibold" pitchFamily="2" charset="0"/>
              </a:rPr>
              <a:t> fort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E7CF019-FCF1-EA24-FD66-2D7581F7B17A}"/>
              </a:ext>
            </a:extLst>
          </p:cNvPr>
          <p:cNvCxnSpPr>
            <a:cxnSpLocks/>
            <a:stCxn id="8" idx="2"/>
          </p:cNvCxnSpPr>
          <p:nvPr/>
        </p:nvCxnSpPr>
        <p:spPr>
          <a:xfrm flipH="1" flipV="1">
            <a:off x="7633987" y="1681278"/>
            <a:ext cx="1532071" cy="1070587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5523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1646F-FE54-0807-47DB-396FDC9F2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07F9E0-A3A4-525B-CBB5-E5D0A5E4099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8318DBF-F50D-155F-3BD4-1CEA701D252A}"/>
              </a:ext>
            </a:extLst>
          </p:cNvPr>
          <p:cNvSpPr/>
          <p:nvPr/>
        </p:nvSpPr>
        <p:spPr>
          <a:xfrm>
            <a:off x="9433440" y="5842336"/>
            <a:ext cx="2758560" cy="1015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A74A9C-0486-0D12-9B22-99A57C92C7D0}"/>
              </a:ext>
            </a:extLst>
          </p:cNvPr>
          <p:cNvSpPr txBox="1"/>
          <p:nvPr/>
        </p:nvSpPr>
        <p:spPr>
          <a:xfrm>
            <a:off x="0" y="6331863"/>
            <a:ext cx="9166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lash Display Medium" pitchFamily="2" charset="0"/>
              </a:rPr>
              <a:t>Day-wise itinerary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A71191-7A3D-F4E9-B0CD-167E041C85EA}"/>
              </a:ext>
            </a:extLst>
          </p:cNvPr>
          <p:cNvSpPr txBox="1"/>
          <p:nvPr/>
        </p:nvSpPr>
        <p:spPr>
          <a:xfrm>
            <a:off x="9433440" y="5842335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A0D9B1-EA94-3B3E-0BAB-F8B5EAF5942F}"/>
              </a:ext>
            </a:extLst>
          </p:cNvPr>
          <p:cNvSpPr txBox="1"/>
          <p:nvPr/>
        </p:nvSpPr>
        <p:spPr>
          <a:xfrm>
            <a:off x="9433440" y="6165501"/>
            <a:ext cx="2758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24 Dec’ 26</a:t>
            </a:r>
          </a:p>
          <a:p>
            <a:pPr algn="r"/>
            <a:r>
              <a:rPr lang="en-US" dirty="0">
                <a:latin typeface="Clash Display Light" pitchFamily="2" charset="0"/>
              </a:rPr>
              <a:t>Delhi to Shimla (Bus)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4C72D6-3131-B33E-C39C-B841629DD22A}"/>
              </a:ext>
            </a:extLst>
          </p:cNvPr>
          <p:cNvSpPr txBox="1"/>
          <p:nvPr/>
        </p:nvSpPr>
        <p:spPr>
          <a:xfrm>
            <a:off x="133350" y="384667"/>
            <a:ext cx="12573000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Delhi to Manali Bus </a:t>
            </a: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Delhi pick up point – Majnu ka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tila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/ ISBT Kashmere gate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Pick up time – 9.00 pm to 12.00 am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Manali drop off point – Manali private bus parking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Drop off time – 7.00 am to 10.30 am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Travel agency with good reviews –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Ram Dalal holidays , Flix Bus,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Deltin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travels,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Kheerganga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Travels, Reo Pro Travels and many more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Travel Expense PP – </a:t>
            </a:r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2500/- to 2800/-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Preferred bus agency –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Deltin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(travelled personally)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Additional expenses of travel &amp; food in Delhi PP – </a:t>
            </a:r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1000/- to 1200/-  (tentatively)</a:t>
            </a: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458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3D80C-5D1C-540F-6D83-59182269F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3AF2132-4532-864F-CA43-0F0BB7CBDC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A14142A-7858-9499-0BAE-C2EE38727108}"/>
              </a:ext>
            </a:extLst>
          </p:cNvPr>
          <p:cNvSpPr/>
          <p:nvPr/>
        </p:nvSpPr>
        <p:spPr>
          <a:xfrm>
            <a:off x="9187712" y="5842334"/>
            <a:ext cx="3004288" cy="1015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F8FD82-7623-AB03-02D3-61D642566DF2}"/>
              </a:ext>
            </a:extLst>
          </p:cNvPr>
          <p:cNvSpPr txBox="1"/>
          <p:nvPr/>
        </p:nvSpPr>
        <p:spPr>
          <a:xfrm>
            <a:off x="57150" y="6274713"/>
            <a:ext cx="3467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lash Display Medium" pitchFamily="2" charset="0"/>
              </a:rPr>
              <a:t>Day-wise itinerary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5E7206-4A77-98CE-D4A7-0CA433F8613D}"/>
              </a:ext>
            </a:extLst>
          </p:cNvPr>
          <p:cNvSpPr txBox="1"/>
          <p:nvPr/>
        </p:nvSpPr>
        <p:spPr>
          <a:xfrm>
            <a:off x="3303510" y="6007085"/>
            <a:ext cx="3169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Clash Display Semibold" pitchFamily="2" charset="0"/>
              </a:rPr>
              <a:t>/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818E90-DF54-A1DF-A6DA-C60E10F63425}"/>
              </a:ext>
            </a:extLst>
          </p:cNvPr>
          <p:cNvSpPr txBox="1"/>
          <p:nvPr/>
        </p:nvSpPr>
        <p:spPr>
          <a:xfrm>
            <a:off x="9458840" y="5842335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3B1106-E676-F736-9F2D-991D9A71C478}"/>
              </a:ext>
            </a:extLst>
          </p:cNvPr>
          <p:cNvSpPr txBox="1"/>
          <p:nvPr/>
        </p:nvSpPr>
        <p:spPr>
          <a:xfrm>
            <a:off x="9187712" y="6165501"/>
            <a:ext cx="3029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25 Dec’ 26</a:t>
            </a:r>
          </a:p>
          <a:p>
            <a:pPr algn="r"/>
            <a:r>
              <a:rPr lang="en-US" dirty="0">
                <a:latin typeface="Clash Display Light" pitchFamily="2" charset="0"/>
              </a:rPr>
              <a:t>Manali to </a:t>
            </a:r>
            <a:r>
              <a:rPr lang="en-US" dirty="0" err="1">
                <a:latin typeface="Clash Display Light" pitchFamily="2" charset="0"/>
              </a:rPr>
              <a:t>Sissu</a:t>
            </a:r>
            <a:r>
              <a:rPr lang="en-US" dirty="0">
                <a:latin typeface="Clash Display Light" pitchFamily="2" charset="0"/>
              </a:rPr>
              <a:t> (4 x 4)</a:t>
            </a:r>
          </a:p>
        </p:txBody>
      </p:sp>
    </p:spTree>
    <p:extLst>
      <p:ext uri="{BB962C8B-B14F-4D97-AF65-F5344CB8AC3E}">
        <p14:creationId xmlns:p14="http://schemas.microsoft.com/office/powerpoint/2010/main" val="3960138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EE00F-38B6-1AA0-0FB9-950054D12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901CC7-B686-4D5A-181A-203E065643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4FB3222-F365-A986-E556-CBF684959DCB}"/>
              </a:ext>
            </a:extLst>
          </p:cNvPr>
          <p:cNvSpPr/>
          <p:nvPr/>
        </p:nvSpPr>
        <p:spPr>
          <a:xfrm>
            <a:off x="9408328" y="0"/>
            <a:ext cx="27836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63D513-221F-C7A6-9F6B-0E798AED8D37}"/>
              </a:ext>
            </a:extLst>
          </p:cNvPr>
          <p:cNvSpPr txBox="1"/>
          <p:nvPr/>
        </p:nvSpPr>
        <p:spPr>
          <a:xfrm>
            <a:off x="9458840" y="5842335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92ED4E-D505-C380-A523-AF71733E1EB3}"/>
              </a:ext>
            </a:extLst>
          </p:cNvPr>
          <p:cNvSpPr txBox="1"/>
          <p:nvPr/>
        </p:nvSpPr>
        <p:spPr>
          <a:xfrm>
            <a:off x="9187712" y="6165501"/>
            <a:ext cx="3029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25 Dec’ 26</a:t>
            </a:r>
          </a:p>
          <a:p>
            <a:pPr algn="r"/>
            <a:r>
              <a:rPr lang="en-US" dirty="0">
                <a:latin typeface="Clash Display Light" pitchFamily="2" charset="0"/>
              </a:rPr>
              <a:t>Manali to </a:t>
            </a:r>
            <a:r>
              <a:rPr lang="en-US" dirty="0" err="1">
                <a:latin typeface="Clash Display Light" pitchFamily="2" charset="0"/>
              </a:rPr>
              <a:t>Sissu</a:t>
            </a:r>
            <a:r>
              <a:rPr lang="en-US" dirty="0">
                <a:latin typeface="Clash Display Light" pitchFamily="2" charset="0"/>
              </a:rPr>
              <a:t> (4 x 4)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962ED5-62A0-80A0-A965-44ABC8B602FC}"/>
              </a:ext>
            </a:extLst>
          </p:cNvPr>
          <p:cNvSpPr txBox="1"/>
          <p:nvPr/>
        </p:nvSpPr>
        <p:spPr>
          <a:xfrm>
            <a:off x="133350" y="384667"/>
            <a:ext cx="115062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Manali </a:t>
            </a:r>
            <a:r>
              <a:rPr lang="en-US" sz="1600" dirty="0">
                <a:solidFill>
                  <a:schemeClr val="bg1"/>
                </a:solidFill>
                <a:latin typeface="Clash Display Light" pitchFamily="2" charset="0"/>
              </a:rPr>
              <a:t>(6,750ft)</a:t>
            </a:r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 to </a:t>
            </a:r>
            <a:r>
              <a:rPr lang="en-US" sz="2000" dirty="0" err="1">
                <a:solidFill>
                  <a:schemeClr val="bg1"/>
                </a:solidFill>
                <a:latin typeface="Clash Display Semibold" pitchFamily="2" charset="0"/>
              </a:rPr>
              <a:t>Sissu</a:t>
            </a:r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Clash Display Light" pitchFamily="2" charset="0"/>
              </a:rPr>
              <a:t>(10,350ft)</a:t>
            </a:r>
            <a:endParaRPr lang="en-US" sz="16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Manali Pick-up time – 12.00 pm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Pick-up point -  Manali Private bus parking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Preferred mode of travel – 4 x 4 – 3 nos.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Manali  to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Sissu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distance – 40 kms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Travel Time according to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Gmaps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– 1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hrs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30 mins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Actual travel time – 5 to 7 hours (considering lunch,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dinner, pee – poop and sight seeing pit stops)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Sissu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drop-off time – 7.00 pm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Sight seeing Pit stop  - </a:t>
            </a:r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Atal Tunnel, sports activities like paragliding, zip lining etc. </a:t>
            </a:r>
          </a:p>
          <a:p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                                                                  in </a:t>
            </a:r>
            <a:r>
              <a:rPr lang="en-US" dirty="0" err="1">
                <a:solidFill>
                  <a:schemeClr val="bg1"/>
                </a:solidFill>
                <a:latin typeface="Clash Display Semibold" pitchFamily="2" charset="0"/>
              </a:rPr>
              <a:t>bashisht</a:t>
            </a:r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lash Display Semibold" pitchFamily="2" charset="0"/>
              </a:rPr>
              <a:t>palchan</a:t>
            </a:r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, Snow entertainment point at north </a:t>
            </a:r>
          </a:p>
          <a:p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                                                                 portal of </a:t>
            </a:r>
            <a:r>
              <a:rPr lang="en-US" dirty="0" err="1">
                <a:solidFill>
                  <a:schemeClr val="bg1"/>
                </a:solidFill>
                <a:latin typeface="Clash Display Semibold" pitchFamily="2" charset="0"/>
              </a:rPr>
              <a:t>atal</a:t>
            </a:r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 tunnel</a:t>
            </a: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98DFE41-EE40-D7BE-732B-047D80C78554}"/>
              </a:ext>
            </a:extLst>
          </p:cNvPr>
          <p:cNvSpPr txBox="1"/>
          <p:nvPr/>
        </p:nvSpPr>
        <p:spPr>
          <a:xfrm>
            <a:off x="9408328" y="3719172"/>
            <a:ext cx="3029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lash Display Medium" pitchFamily="2" charset="0"/>
              </a:rPr>
              <a:t>Key Route map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120439A-F5AA-3F93-55AE-E8F39BE0DA82}"/>
              </a:ext>
            </a:extLst>
          </p:cNvPr>
          <p:cNvGrpSpPr/>
          <p:nvPr/>
        </p:nvGrpSpPr>
        <p:grpSpPr>
          <a:xfrm>
            <a:off x="9408328" y="338499"/>
            <a:ext cx="2783672" cy="3327753"/>
            <a:chOff x="6400801" y="-22844"/>
            <a:chExt cx="5791200" cy="692311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4FCF350-DE03-00F7-C2C2-A6AE4901E9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</a:blip>
            <a:stretch>
              <a:fillRect/>
            </a:stretch>
          </p:blipFill>
          <p:spPr>
            <a:xfrm>
              <a:off x="6400801" y="-22844"/>
              <a:ext cx="5791200" cy="6923116"/>
            </a:xfrm>
            <a:prstGeom prst="rect">
              <a:avLst/>
            </a:prstGeom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6FF2234-4E42-A53C-E691-1FA08E06ABE7}"/>
                </a:ext>
              </a:extLst>
            </p:cNvPr>
            <p:cNvSpPr/>
            <p:nvPr/>
          </p:nvSpPr>
          <p:spPr>
            <a:xfrm>
              <a:off x="10193607" y="6216650"/>
              <a:ext cx="182429" cy="18242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689FADD-F316-2FAD-BEB7-4650708B3AAC}"/>
                </a:ext>
              </a:extLst>
            </p:cNvPr>
            <p:cNvSpPr/>
            <p:nvPr/>
          </p:nvSpPr>
          <p:spPr>
            <a:xfrm>
              <a:off x="9166058" y="2660650"/>
              <a:ext cx="182429" cy="18242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D39CDA6-35D5-3F2D-A843-CCAA89C65546}"/>
                </a:ext>
              </a:extLst>
            </p:cNvPr>
            <p:cNvCxnSpPr>
              <a:cxnSpLocks/>
              <a:endCxn id="12" idx="5"/>
            </p:cNvCxnSpPr>
            <p:nvPr/>
          </p:nvCxnSpPr>
          <p:spPr>
            <a:xfrm flipH="1" flipV="1">
              <a:off x="9321771" y="2816363"/>
              <a:ext cx="871836" cy="3400287"/>
            </a:xfrm>
            <a:prstGeom prst="line">
              <a:avLst/>
            </a:prstGeom>
            <a:ln w="3810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0120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D18EB-2306-4483-33D3-7E8DACBF0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09153BC-1FFB-DDA0-3D8A-F3519072F3C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74C9E71-CFD0-C849-9DF8-034CBA72DFC7}"/>
              </a:ext>
            </a:extLst>
          </p:cNvPr>
          <p:cNvSpPr/>
          <p:nvPr/>
        </p:nvSpPr>
        <p:spPr>
          <a:xfrm>
            <a:off x="9408328" y="0"/>
            <a:ext cx="27836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0AB690-14B5-6531-C7B6-1E84F0AD0242}"/>
              </a:ext>
            </a:extLst>
          </p:cNvPr>
          <p:cNvSpPr txBox="1"/>
          <p:nvPr/>
        </p:nvSpPr>
        <p:spPr>
          <a:xfrm>
            <a:off x="9458840" y="5842335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E1023F-9B11-DD27-09DD-09DF4B58D56A}"/>
              </a:ext>
            </a:extLst>
          </p:cNvPr>
          <p:cNvSpPr txBox="1"/>
          <p:nvPr/>
        </p:nvSpPr>
        <p:spPr>
          <a:xfrm>
            <a:off x="9187712" y="6165501"/>
            <a:ext cx="3029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26 Dec’ 26</a:t>
            </a:r>
          </a:p>
          <a:p>
            <a:pPr algn="r"/>
            <a:r>
              <a:rPr lang="en-US" dirty="0">
                <a:latin typeface="Clash Display Light" pitchFamily="2" charset="0"/>
              </a:rPr>
              <a:t>Kalpa Halt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E86C25-8A9A-1EB2-9BFD-277F4259CB6B}"/>
              </a:ext>
            </a:extLst>
          </p:cNvPr>
          <p:cNvSpPr txBox="1"/>
          <p:nvPr/>
        </p:nvSpPr>
        <p:spPr>
          <a:xfrm>
            <a:off x="133350" y="384667"/>
            <a:ext cx="1150620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  <a:latin typeface="Clash Display Semibold" pitchFamily="2" charset="0"/>
              </a:rPr>
              <a:t>Sissu</a:t>
            </a:r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 halt</a:t>
            </a: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Stay back in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Sissu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and explore places in and around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Sissu</a:t>
            </a: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Spots in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Sissu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Sissu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waterfall (frozen at that time)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Sissu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lake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Sissu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monastery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Chandra river banks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Local short trek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Leave at 8.00 am sharp, only then we will be able to cover these spots.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      This includes chilling, rolling, etc.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Return to the stay by 7/7.30 pm max.</a:t>
            </a:r>
            <a:endParaRPr lang="en-US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399592-7BB0-8045-6D69-D36FB7467D1C}"/>
              </a:ext>
            </a:extLst>
          </p:cNvPr>
          <p:cNvSpPr txBox="1"/>
          <p:nvPr/>
        </p:nvSpPr>
        <p:spPr>
          <a:xfrm>
            <a:off x="9408328" y="3719172"/>
            <a:ext cx="3029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lash Display Medium" pitchFamily="2" charset="0"/>
              </a:rPr>
              <a:t>Key Route map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1B8318E-7660-FA11-177E-E61013A9BED0}"/>
              </a:ext>
            </a:extLst>
          </p:cNvPr>
          <p:cNvGrpSpPr/>
          <p:nvPr/>
        </p:nvGrpSpPr>
        <p:grpSpPr>
          <a:xfrm>
            <a:off x="9408328" y="338499"/>
            <a:ext cx="2783672" cy="3327753"/>
            <a:chOff x="6400801" y="-22844"/>
            <a:chExt cx="5791200" cy="692311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CC92C0D-75CF-47C5-5E50-631C350522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</a:blip>
            <a:stretch>
              <a:fillRect/>
            </a:stretch>
          </p:blipFill>
          <p:spPr>
            <a:xfrm>
              <a:off x="6400801" y="-22844"/>
              <a:ext cx="5791200" cy="6923116"/>
            </a:xfrm>
            <a:prstGeom prst="rect">
              <a:avLst/>
            </a:prstGeom>
          </p:spPr>
        </p:pic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E8DC61E-3817-A006-0B29-CEF8A10D0CBD}"/>
                </a:ext>
              </a:extLst>
            </p:cNvPr>
            <p:cNvSpPr/>
            <p:nvPr/>
          </p:nvSpPr>
          <p:spPr>
            <a:xfrm>
              <a:off x="10193607" y="6216650"/>
              <a:ext cx="182429" cy="18242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7A79B54-DC85-DEB1-551C-459363E4721B}"/>
                </a:ext>
              </a:extLst>
            </p:cNvPr>
            <p:cNvSpPr/>
            <p:nvPr/>
          </p:nvSpPr>
          <p:spPr>
            <a:xfrm>
              <a:off x="9166058" y="2660650"/>
              <a:ext cx="182429" cy="18242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5F9BD11-6777-9985-8CAE-AE82B2CED0D5}"/>
                </a:ext>
              </a:extLst>
            </p:cNvPr>
            <p:cNvCxnSpPr>
              <a:cxnSpLocks/>
              <a:endCxn id="12" idx="5"/>
            </p:cNvCxnSpPr>
            <p:nvPr/>
          </p:nvCxnSpPr>
          <p:spPr>
            <a:xfrm flipH="1" flipV="1">
              <a:off x="9321771" y="2816363"/>
              <a:ext cx="871836" cy="3400287"/>
            </a:xfrm>
            <a:prstGeom prst="line">
              <a:avLst/>
            </a:prstGeom>
            <a:ln w="3810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460376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2874A-C5AD-7FC8-05D5-D1CAFD503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A9E3421-5CDB-5210-AD16-5DCA1B4220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DF2C50C-493B-85D0-3B05-B5DFD477F239}"/>
              </a:ext>
            </a:extLst>
          </p:cNvPr>
          <p:cNvSpPr/>
          <p:nvPr/>
        </p:nvSpPr>
        <p:spPr>
          <a:xfrm>
            <a:off x="9408328" y="0"/>
            <a:ext cx="27836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4DAF0E-BD19-B311-C56F-4F3DB18EF03E}"/>
              </a:ext>
            </a:extLst>
          </p:cNvPr>
          <p:cNvSpPr txBox="1"/>
          <p:nvPr/>
        </p:nvSpPr>
        <p:spPr>
          <a:xfrm>
            <a:off x="9458840" y="5842335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206F56-9705-5F97-045B-92AEA2E35941}"/>
              </a:ext>
            </a:extLst>
          </p:cNvPr>
          <p:cNvSpPr txBox="1"/>
          <p:nvPr/>
        </p:nvSpPr>
        <p:spPr>
          <a:xfrm>
            <a:off x="9187712" y="6165501"/>
            <a:ext cx="3029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27 Dec’ 26</a:t>
            </a:r>
          </a:p>
          <a:p>
            <a:pPr algn="r"/>
            <a:r>
              <a:rPr lang="en-US" dirty="0" err="1">
                <a:latin typeface="Clash Display Light" pitchFamily="2" charset="0"/>
              </a:rPr>
              <a:t>Sissu</a:t>
            </a:r>
            <a:r>
              <a:rPr lang="en-US" dirty="0">
                <a:latin typeface="Clash Display Light" pitchFamily="2" charset="0"/>
              </a:rPr>
              <a:t> to </a:t>
            </a:r>
            <a:r>
              <a:rPr lang="en-US" dirty="0" err="1">
                <a:latin typeface="Clash Display Light" pitchFamily="2" charset="0"/>
              </a:rPr>
              <a:t>Keylong</a:t>
            </a:r>
            <a:endParaRPr lang="en-US" dirty="0">
              <a:latin typeface="Clash Display Light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9CB189-BCE2-4CA8-7E6F-745EB3A2C456}"/>
              </a:ext>
            </a:extLst>
          </p:cNvPr>
          <p:cNvSpPr txBox="1"/>
          <p:nvPr/>
        </p:nvSpPr>
        <p:spPr>
          <a:xfrm>
            <a:off x="133350" y="384667"/>
            <a:ext cx="11506200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  <a:latin typeface="Clash Display Semibold" pitchFamily="2" charset="0"/>
              </a:rPr>
              <a:t>Sissu</a:t>
            </a:r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Clash Display Light" pitchFamily="2" charset="0"/>
              </a:rPr>
              <a:t>(10,350ft)</a:t>
            </a:r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 to </a:t>
            </a:r>
            <a:r>
              <a:rPr lang="en-US" sz="2000" dirty="0" err="1">
                <a:solidFill>
                  <a:schemeClr val="bg1"/>
                </a:solidFill>
                <a:latin typeface="Clash Display Semibold" pitchFamily="2" charset="0"/>
              </a:rPr>
              <a:t>Keylong</a:t>
            </a:r>
            <a:r>
              <a:rPr lang="en-US" sz="1600" dirty="0">
                <a:solidFill>
                  <a:schemeClr val="bg1"/>
                </a:solidFill>
                <a:latin typeface="Clash Display Light" pitchFamily="2" charset="0"/>
              </a:rPr>
              <a:t>(11,300ft)</a:t>
            </a:r>
            <a:r>
              <a:rPr lang="en-US" sz="2800" dirty="0">
                <a:solidFill>
                  <a:schemeClr val="bg1"/>
                </a:solidFill>
                <a:latin typeface="Clash Display Semibold" pitchFamily="2" charset="0"/>
              </a:rPr>
              <a:t> </a:t>
            </a:r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Sissu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start-of time – 12.00 pm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Kept extra 2/3 hours for exploring left over places (if any)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Preferred mode of travel – 4 x 4 – 3 nos.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Sissu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to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Keylong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distance – 32 kms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Travel Time according to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Gmaps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– 1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hr</a:t>
            </a: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Actual travel time – 6 to 8 hours (considering lunch,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dinner, pee – poop and sight seeing pit stops)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Keylong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drop-off time – 8.00 pm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Sight seeing Pit stop – </a:t>
            </a:r>
            <a:r>
              <a:rPr lang="en-US" dirty="0" err="1">
                <a:solidFill>
                  <a:schemeClr val="bg1"/>
                </a:solidFill>
                <a:latin typeface="Clash Display Semibold" pitchFamily="2" charset="0"/>
              </a:rPr>
              <a:t>Gondhla</a:t>
            </a:r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 fort &amp; </a:t>
            </a:r>
            <a:r>
              <a:rPr lang="en-US" dirty="0" err="1">
                <a:solidFill>
                  <a:schemeClr val="bg1"/>
                </a:solidFill>
                <a:latin typeface="Clash Display Semibold" pitchFamily="2" charset="0"/>
              </a:rPr>
              <a:t>Yangla</a:t>
            </a:r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 snow point </a:t>
            </a:r>
          </a:p>
          <a:p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                                                                 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(30 mins to reach, 1.5 hours for exploration)</a:t>
            </a:r>
          </a:p>
          <a:p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                                                                 Tandi Chandrabhaga </a:t>
            </a:r>
            <a:r>
              <a:rPr lang="en-US" dirty="0" err="1">
                <a:solidFill>
                  <a:schemeClr val="bg1"/>
                </a:solidFill>
                <a:latin typeface="Clash Display Semibold" pitchFamily="2" charset="0"/>
              </a:rPr>
              <a:t>sangam</a:t>
            </a:r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, Tandi bridge, Tandi village</a:t>
            </a:r>
          </a:p>
          <a:p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                                                                  </a:t>
            </a:r>
            <a:r>
              <a:rPr lang="en-US" dirty="0" err="1">
                <a:solidFill>
                  <a:schemeClr val="bg1"/>
                </a:solidFill>
                <a:latin typeface="Clash Display Semibold" pitchFamily="2" charset="0"/>
              </a:rPr>
              <a:t>Gondhla</a:t>
            </a:r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 fort to Tandi 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(30 mins to reach, 4 to 5 hours for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                                                   exploration, lunch, etc.)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                                                   </a:t>
            </a:r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Tandi to </a:t>
            </a:r>
            <a:r>
              <a:rPr lang="en-US" dirty="0" err="1">
                <a:solidFill>
                  <a:schemeClr val="bg1"/>
                </a:solidFill>
                <a:latin typeface="Clash Display Semibold" pitchFamily="2" charset="0"/>
              </a:rPr>
              <a:t>Keylong</a:t>
            </a:r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 (30 mins to reach)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                                                  </a:t>
            </a: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486213-BF4F-A548-D3E9-723B864C43D9}"/>
              </a:ext>
            </a:extLst>
          </p:cNvPr>
          <p:cNvSpPr txBox="1"/>
          <p:nvPr/>
        </p:nvSpPr>
        <p:spPr>
          <a:xfrm>
            <a:off x="9408328" y="3719172"/>
            <a:ext cx="3029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lash Display Medium" pitchFamily="2" charset="0"/>
              </a:rPr>
              <a:t>Key Route map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C341C2-41D4-7A3D-C24A-E8B049E970D1}"/>
              </a:ext>
            </a:extLst>
          </p:cNvPr>
          <p:cNvGrpSpPr/>
          <p:nvPr/>
        </p:nvGrpSpPr>
        <p:grpSpPr>
          <a:xfrm>
            <a:off x="9408328" y="338499"/>
            <a:ext cx="2783672" cy="3327753"/>
            <a:chOff x="6400801" y="-22844"/>
            <a:chExt cx="5791200" cy="692311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6072111-EC6C-B6F7-B743-575454FFC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</a:blip>
            <a:stretch>
              <a:fillRect/>
            </a:stretch>
          </p:blipFill>
          <p:spPr>
            <a:xfrm>
              <a:off x="6400801" y="-22844"/>
              <a:ext cx="5791200" cy="6923116"/>
            </a:xfrm>
            <a:prstGeom prst="rect">
              <a:avLst/>
            </a:prstGeom>
          </p:spPr>
        </p:pic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F0FB975-02A0-938D-3391-B9238A640163}"/>
                </a:ext>
              </a:extLst>
            </p:cNvPr>
            <p:cNvSpPr/>
            <p:nvPr/>
          </p:nvSpPr>
          <p:spPr>
            <a:xfrm>
              <a:off x="10193607" y="6216650"/>
              <a:ext cx="182429" cy="18242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3D5E327-9839-B060-47C8-23EC4E713CD8}"/>
                </a:ext>
              </a:extLst>
            </p:cNvPr>
            <p:cNvSpPr/>
            <p:nvPr/>
          </p:nvSpPr>
          <p:spPr>
            <a:xfrm>
              <a:off x="9166058" y="2660650"/>
              <a:ext cx="182429" cy="18242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956D1B5-5B65-6DEC-D7D8-5DC20B517366}"/>
                </a:ext>
              </a:extLst>
            </p:cNvPr>
            <p:cNvCxnSpPr>
              <a:cxnSpLocks/>
              <a:endCxn id="18" idx="5"/>
            </p:cNvCxnSpPr>
            <p:nvPr/>
          </p:nvCxnSpPr>
          <p:spPr>
            <a:xfrm flipH="1" flipV="1">
              <a:off x="9321771" y="2816363"/>
              <a:ext cx="871836" cy="3400287"/>
            </a:xfrm>
            <a:prstGeom prst="line">
              <a:avLst/>
            </a:prstGeom>
            <a:ln w="3810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F1DC49F-7945-D614-71BE-3D46DA1B727A}"/>
                </a:ext>
              </a:extLst>
            </p:cNvPr>
            <p:cNvSpPr/>
            <p:nvPr/>
          </p:nvSpPr>
          <p:spPr>
            <a:xfrm>
              <a:off x="7692216" y="2506917"/>
              <a:ext cx="182430" cy="18243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9E58114-A476-5BFE-C16B-4E560A0DD765}"/>
                </a:ext>
              </a:extLst>
            </p:cNvPr>
            <p:cNvSpPr/>
            <p:nvPr/>
          </p:nvSpPr>
          <p:spPr>
            <a:xfrm>
              <a:off x="7355344" y="1565659"/>
              <a:ext cx="182430" cy="18243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0D3B41B-466B-C1F8-367A-222B9AEC36A8}"/>
                </a:ext>
              </a:extLst>
            </p:cNvPr>
            <p:cNvSpPr/>
            <p:nvPr/>
          </p:nvSpPr>
          <p:spPr>
            <a:xfrm>
              <a:off x="8078629" y="1179246"/>
              <a:ext cx="182430" cy="18243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F5AC23D-3ABF-6BC0-E6FE-C4FF6B786580}"/>
              </a:ext>
            </a:extLst>
          </p:cNvPr>
          <p:cNvCxnSpPr>
            <a:cxnSpLocks/>
            <a:stCxn id="29" idx="5"/>
          </p:cNvCxnSpPr>
          <p:nvPr/>
        </p:nvCxnSpPr>
        <p:spPr>
          <a:xfrm>
            <a:off x="9941998" y="1176896"/>
            <a:ext cx="790748" cy="451485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AE40ED3-EE5C-1CB7-5EAE-EF779FD8A0A6}"/>
              </a:ext>
            </a:extLst>
          </p:cNvPr>
          <p:cNvCxnSpPr>
            <a:cxnSpLocks/>
            <a:stCxn id="29" idx="6"/>
            <a:endCxn id="30" idx="3"/>
          </p:cNvCxnSpPr>
          <p:nvPr/>
        </p:nvCxnSpPr>
        <p:spPr>
          <a:xfrm flipV="1">
            <a:off x="9954840" y="991158"/>
            <a:ext cx="272816" cy="154736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BBC8459-5CA2-3BA3-08C6-DEB42A7583B8}"/>
              </a:ext>
            </a:extLst>
          </p:cNvPr>
          <p:cNvCxnSpPr>
            <a:cxnSpLocks/>
            <a:stCxn id="28" idx="7"/>
          </p:cNvCxnSpPr>
          <p:nvPr/>
        </p:nvCxnSpPr>
        <p:spPr>
          <a:xfrm flipV="1">
            <a:off x="10103923" y="1421300"/>
            <a:ext cx="250911" cy="146028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634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DD140-0F9D-D482-1E58-D4F007579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3CC76D1-AAB8-D295-8133-BC8780B17C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78FF4A2-30A8-5916-CE4E-3FC5546E846D}"/>
              </a:ext>
            </a:extLst>
          </p:cNvPr>
          <p:cNvSpPr/>
          <p:nvPr/>
        </p:nvSpPr>
        <p:spPr>
          <a:xfrm>
            <a:off x="9408328" y="0"/>
            <a:ext cx="27836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B3FD98-CB4A-759E-7C67-CE55974B1BFF}"/>
              </a:ext>
            </a:extLst>
          </p:cNvPr>
          <p:cNvSpPr txBox="1"/>
          <p:nvPr/>
        </p:nvSpPr>
        <p:spPr>
          <a:xfrm>
            <a:off x="9458840" y="5842335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 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0DC404-874D-B9B7-63D8-A2F713C19791}"/>
              </a:ext>
            </a:extLst>
          </p:cNvPr>
          <p:cNvSpPr txBox="1"/>
          <p:nvPr/>
        </p:nvSpPr>
        <p:spPr>
          <a:xfrm>
            <a:off x="9187712" y="6165501"/>
            <a:ext cx="3029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28 Dec’ 26</a:t>
            </a:r>
          </a:p>
          <a:p>
            <a:pPr algn="r"/>
            <a:r>
              <a:rPr lang="en-US" dirty="0" err="1">
                <a:latin typeface="Clash Display Light" pitchFamily="2" charset="0"/>
              </a:rPr>
              <a:t>Keylong</a:t>
            </a:r>
            <a:r>
              <a:rPr lang="en-US" dirty="0">
                <a:latin typeface="Clash Display Light" pitchFamily="2" charset="0"/>
              </a:rPr>
              <a:t> Halt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51EC21-4D19-BA87-D144-A73FFA5A1BCB}"/>
              </a:ext>
            </a:extLst>
          </p:cNvPr>
          <p:cNvSpPr txBox="1"/>
          <p:nvPr/>
        </p:nvSpPr>
        <p:spPr>
          <a:xfrm>
            <a:off x="133350" y="384667"/>
            <a:ext cx="115062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  <a:latin typeface="Clash Display Semibold" pitchFamily="2" charset="0"/>
              </a:rPr>
              <a:t>Keylong</a:t>
            </a:r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 halt</a:t>
            </a: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Stay back in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Keylong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and explore places in and around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Keylong</a:t>
            </a: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Spots in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Keylong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Shashur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monastery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Viewpoint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keylong</a:t>
            </a: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Tayul Gompa/ monastery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Local short trek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Leave at 8.00 am sharp, only then we will be able to cover these spots.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      This includes chilling, rolling, etc.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Return to the stay by 7/7.30 pm max.</a:t>
            </a:r>
            <a:endParaRPr lang="en-US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3E0EC92-C47E-7D48-5707-45FCE16CE2C1}"/>
              </a:ext>
            </a:extLst>
          </p:cNvPr>
          <p:cNvGrpSpPr/>
          <p:nvPr/>
        </p:nvGrpSpPr>
        <p:grpSpPr>
          <a:xfrm>
            <a:off x="9408328" y="338499"/>
            <a:ext cx="2783672" cy="3327753"/>
            <a:chOff x="6400801" y="-22844"/>
            <a:chExt cx="5791200" cy="692311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4E5FEE2-9033-A2CA-8649-604C12E19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</a:blip>
            <a:stretch>
              <a:fillRect/>
            </a:stretch>
          </p:blipFill>
          <p:spPr>
            <a:xfrm>
              <a:off x="6400801" y="-22844"/>
              <a:ext cx="5791200" cy="6923116"/>
            </a:xfrm>
            <a:prstGeom prst="rect">
              <a:avLst/>
            </a:prstGeom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12CE6A48-882A-7056-AD30-4C609670C853}"/>
                </a:ext>
              </a:extLst>
            </p:cNvPr>
            <p:cNvSpPr/>
            <p:nvPr/>
          </p:nvSpPr>
          <p:spPr>
            <a:xfrm>
              <a:off x="10193607" y="6216650"/>
              <a:ext cx="182429" cy="18242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735AC3A-153E-7D93-2912-2D1D3847D142}"/>
                </a:ext>
              </a:extLst>
            </p:cNvPr>
            <p:cNvSpPr/>
            <p:nvPr/>
          </p:nvSpPr>
          <p:spPr>
            <a:xfrm>
              <a:off x="9166058" y="2660650"/>
              <a:ext cx="182429" cy="18242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344F176-AC1E-DFD1-E910-9171070F2160}"/>
                </a:ext>
              </a:extLst>
            </p:cNvPr>
            <p:cNvCxnSpPr>
              <a:cxnSpLocks/>
              <a:endCxn id="14" idx="5"/>
            </p:cNvCxnSpPr>
            <p:nvPr/>
          </p:nvCxnSpPr>
          <p:spPr>
            <a:xfrm flipH="1" flipV="1">
              <a:off x="9321771" y="2816363"/>
              <a:ext cx="871836" cy="3400287"/>
            </a:xfrm>
            <a:prstGeom prst="line">
              <a:avLst/>
            </a:prstGeom>
            <a:ln w="3810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D2DB0DA-B378-E0C3-FDAF-89CA971FBDBF}"/>
                </a:ext>
              </a:extLst>
            </p:cNvPr>
            <p:cNvSpPr/>
            <p:nvPr/>
          </p:nvSpPr>
          <p:spPr>
            <a:xfrm>
              <a:off x="7692216" y="2506917"/>
              <a:ext cx="182430" cy="18243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B55CB42-A42B-43FB-B183-CB732254A313}"/>
                </a:ext>
              </a:extLst>
            </p:cNvPr>
            <p:cNvSpPr/>
            <p:nvPr/>
          </p:nvSpPr>
          <p:spPr>
            <a:xfrm>
              <a:off x="7355344" y="1565659"/>
              <a:ext cx="182430" cy="18243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EF61660-034F-4D54-D8F2-FA0FC79185BE}"/>
                </a:ext>
              </a:extLst>
            </p:cNvPr>
            <p:cNvSpPr/>
            <p:nvPr/>
          </p:nvSpPr>
          <p:spPr>
            <a:xfrm>
              <a:off x="8078629" y="1179246"/>
              <a:ext cx="182430" cy="18243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B4499E9-4FA5-C12C-1AE3-4CCD95C143F5}"/>
              </a:ext>
            </a:extLst>
          </p:cNvPr>
          <p:cNvCxnSpPr>
            <a:cxnSpLocks/>
            <a:stCxn id="17" idx="5"/>
          </p:cNvCxnSpPr>
          <p:nvPr/>
        </p:nvCxnSpPr>
        <p:spPr>
          <a:xfrm>
            <a:off x="9941998" y="1176896"/>
            <a:ext cx="790748" cy="451485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5982BA7-5D2F-5788-1243-579272FC86B9}"/>
              </a:ext>
            </a:extLst>
          </p:cNvPr>
          <p:cNvCxnSpPr>
            <a:cxnSpLocks/>
            <a:stCxn id="17" idx="6"/>
            <a:endCxn id="18" idx="3"/>
          </p:cNvCxnSpPr>
          <p:nvPr/>
        </p:nvCxnSpPr>
        <p:spPr>
          <a:xfrm flipV="1">
            <a:off x="9954840" y="991158"/>
            <a:ext cx="272816" cy="154736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196C92D-20A2-76A5-8D1C-C08B524874B7}"/>
              </a:ext>
            </a:extLst>
          </p:cNvPr>
          <p:cNvCxnSpPr>
            <a:cxnSpLocks/>
            <a:stCxn id="16" idx="7"/>
          </p:cNvCxnSpPr>
          <p:nvPr/>
        </p:nvCxnSpPr>
        <p:spPr>
          <a:xfrm flipV="1">
            <a:off x="10103923" y="1421300"/>
            <a:ext cx="250911" cy="146028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34566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0C05B-B51C-A57B-07C3-106B4FA70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3363AA-BA35-1D35-5856-6894D2DA58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D312DE0-BB43-3187-52F1-505E979FA8B4}"/>
              </a:ext>
            </a:extLst>
          </p:cNvPr>
          <p:cNvSpPr/>
          <p:nvPr/>
        </p:nvSpPr>
        <p:spPr>
          <a:xfrm>
            <a:off x="9408328" y="0"/>
            <a:ext cx="27836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8213C6-7E3B-DA33-6DE5-89E2AC4AEF9C}"/>
              </a:ext>
            </a:extLst>
          </p:cNvPr>
          <p:cNvSpPr txBox="1"/>
          <p:nvPr/>
        </p:nvSpPr>
        <p:spPr>
          <a:xfrm>
            <a:off x="9458840" y="5842335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7EDE12-107F-8388-5083-8D8379D809BD}"/>
              </a:ext>
            </a:extLst>
          </p:cNvPr>
          <p:cNvSpPr txBox="1"/>
          <p:nvPr/>
        </p:nvSpPr>
        <p:spPr>
          <a:xfrm>
            <a:off x="9187712" y="6165501"/>
            <a:ext cx="3029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29 Dec’ 26</a:t>
            </a:r>
          </a:p>
          <a:p>
            <a:pPr algn="r"/>
            <a:r>
              <a:rPr lang="en-US" dirty="0" err="1">
                <a:latin typeface="Clash Display Light" pitchFamily="2" charset="0"/>
              </a:rPr>
              <a:t>Keylong</a:t>
            </a:r>
            <a:r>
              <a:rPr lang="en-US" dirty="0">
                <a:latin typeface="Clash Display Light" pitchFamily="2" charset="0"/>
              </a:rPr>
              <a:t> to </a:t>
            </a:r>
            <a:r>
              <a:rPr lang="en-US" dirty="0" err="1">
                <a:latin typeface="Clash Display Light" pitchFamily="2" charset="0"/>
              </a:rPr>
              <a:t>Jispa</a:t>
            </a:r>
            <a:endParaRPr lang="en-US" dirty="0">
              <a:latin typeface="Clash Display Light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F64637-2F02-94A4-F8A2-95C9E309FD4A}"/>
              </a:ext>
            </a:extLst>
          </p:cNvPr>
          <p:cNvSpPr txBox="1"/>
          <p:nvPr/>
        </p:nvSpPr>
        <p:spPr>
          <a:xfrm>
            <a:off x="133350" y="384667"/>
            <a:ext cx="9237363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  <a:latin typeface="Clash Display Semibold" pitchFamily="2" charset="0"/>
              </a:rPr>
              <a:t>Keylong</a:t>
            </a:r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Clash Display Light" pitchFamily="2" charset="0"/>
              </a:rPr>
              <a:t>(11,300ft)</a:t>
            </a:r>
            <a:r>
              <a:rPr lang="en-US" sz="1600" dirty="0">
                <a:solidFill>
                  <a:schemeClr val="bg1"/>
                </a:solidFill>
                <a:latin typeface="Clash Display Semibold" pitchFamily="2" charset="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to </a:t>
            </a:r>
            <a:r>
              <a:rPr lang="en-US" sz="2000" dirty="0" err="1">
                <a:solidFill>
                  <a:schemeClr val="bg1"/>
                </a:solidFill>
                <a:latin typeface="Clash Display Semibold" pitchFamily="2" charset="0"/>
              </a:rPr>
              <a:t>Jispa</a:t>
            </a:r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Clash Display Light" pitchFamily="2" charset="0"/>
              </a:rPr>
              <a:t>(10,500ft)</a:t>
            </a:r>
            <a:r>
              <a:rPr lang="en-US" sz="1600" dirty="0">
                <a:solidFill>
                  <a:schemeClr val="bg1"/>
                </a:solidFill>
                <a:latin typeface="Clash Display Semibold" pitchFamily="2" charset="0"/>
              </a:rPr>
              <a:t> </a:t>
            </a:r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Keylong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start-of time – 11.00 am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Preferred mode of travel – 4 x 4 – 3 nos.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Keylong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to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Jispa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distance – 23 kms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Travel Time according to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Gmaps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– 40 mins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Actual travel time – 2 to 2.5 hours (considering pee – poop and sight seeing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pit stops including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Gemur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Gompa)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Jispa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drop-off time – 1.30/2.00 pm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Check-in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Jispa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stay, have lunch and chill cause it’s heavy snowfall predicted on this day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In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Jispa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( so snowfall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ke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maze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lenge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)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If snowfall doesn’t happen then the same day can be used to go to Darcha &amp;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Baralacha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La, round trip 4 to 5 hours)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Jispa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drop off time – 8.00 pm</a:t>
            </a:r>
          </a:p>
          <a:p>
            <a:endParaRPr lang="en-US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509CD82-DFDC-AC2C-8846-BFD795257884}"/>
              </a:ext>
            </a:extLst>
          </p:cNvPr>
          <p:cNvGrpSpPr/>
          <p:nvPr/>
        </p:nvGrpSpPr>
        <p:grpSpPr>
          <a:xfrm>
            <a:off x="9408328" y="338499"/>
            <a:ext cx="2783672" cy="3327753"/>
            <a:chOff x="6400801" y="-22844"/>
            <a:chExt cx="5791200" cy="6923116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00958C0-673D-D809-B412-C7BB5E823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</a:blip>
            <a:stretch>
              <a:fillRect/>
            </a:stretch>
          </p:blipFill>
          <p:spPr>
            <a:xfrm>
              <a:off x="6400801" y="-22844"/>
              <a:ext cx="5791200" cy="6923116"/>
            </a:xfrm>
            <a:prstGeom prst="rect">
              <a:avLst/>
            </a:prstGeom>
          </p:spPr>
        </p:pic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B74F640-2A0A-826D-8A8E-CFC40C699170}"/>
                </a:ext>
              </a:extLst>
            </p:cNvPr>
            <p:cNvSpPr/>
            <p:nvPr/>
          </p:nvSpPr>
          <p:spPr>
            <a:xfrm>
              <a:off x="10193607" y="6216650"/>
              <a:ext cx="182429" cy="18242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E7EB153-36B6-9AAA-2CFF-CED95A23526F}"/>
                </a:ext>
              </a:extLst>
            </p:cNvPr>
            <p:cNvSpPr/>
            <p:nvPr/>
          </p:nvSpPr>
          <p:spPr>
            <a:xfrm>
              <a:off x="9166058" y="2660650"/>
              <a:ext cx="182429" cy="18242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98DB447-7622-A2BF-2773-A5932062E7F2}"/>
                </a:ext>
              </a:extLst>
            </p:cNvPr>
            <p:cNvCxnSpPr>
              <a:cxnSpLocks/>
              <a:endCxn id="20" idx="5"/>
            </p:cNvCxnSpPr>
            <p:nvPr/>
          </p:nvCxnSpPr>
          <p:spPr>
            <a:xfrm flipH="1" flipV="1">
              <a:off x="9321771" y="2816363"/>
              <a:ext cx="871836" cy="3400287"/>
            </a:xfrm>
            <a:prstGeom prst="line">
              <a:avLst/>
            </a:prstGeom>
            <a:ln w="3810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706C186-38DA-9446-3CD6-7F888A4EC11B}"/>
                </a:ext>
              </a:extLst>
            </p:cNvPr>
            <p:cNvSpPr/>
            <p:nvPr/>
          </p:nvSpPr>
          <p:spPr>
            <a:xfrm>
              <a:off x="7692216" y="2506917"/>
              <a:ext cx="182430" cy="18243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2D8B715-735B-3C43-2CC2-502547E0C428}"/>
                </a:ext>
              </a:extLst>
            </p:cNvPr>
            <p:cNvSpPr/>
            <p:nvPr/>
          </p:nvSpPr>
          <p:spPr>
            <a:xfrm>
              <a:off x="7355344" y="1565659"/>
              <a:ext cx="182430" cy="18243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BEB5224-DBB8-6809-B054-E4A2E8E51AB8}"/>
                </a:ext>
              </a:extLst>
            </p:cNvPr>
            <p:cNvSpPr/>
            <p:nvPr/>
          </p:nvSpPr>
          <p:spPr>
            <a:xfrm>
              <a:off x="8078629" y="1179246"/>
              <a:ext cx="182430" cy="18243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937AD3A-A642-363E-751A-5568BAEE7EC9}"/>
              </a:ext>
            </a:extLst>
          </p:cNvPr>
          <p:cNvCxnSpPr>
            <a:cxnSpLocks/>
            <a:stCxn id="26" idx="5"/>
          </p:cNvCxnSpPr>
          <p:nvPr/>
        </p:nvCxnSpPr>
        <p:spPr>
          <a:xfrm>
            <a:off x="9941998" y="1176896"/>
            <a:ext cx="790748" cy="451485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CBA13BA-F755-932A-24E0-DA53E4C97B09}"/>
              </a:ext>
            </a:extLst>
          </p:cNvPr>
          <p:cNvCxnSpPr>
            <a:cxnSpLocks/>
            <a:stCxn id="26" idx="6"/>
            <a:endCxn id="27" idx="3"/>
          </p:cNvCxnSpPr>
          <p:nvPr/>
        </p:nvCxnSpPr>
        <p:spPr>
          <a:xfrm flipV="1">
            <a:off x="9954840" y="991158"/>
            <a:ext cx="272816" cy="154736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DACBF55-F97F-F31D-4023-32A58362B095}"/>
              </a:ext>
            </a:extLst>
          </p:cNvPr>
          <p:cNvCxnSpPr>
            <a:cxnSpLocks/>
            <a:stCxn id="25" idx="7"/>
          </p:cNvCxnSpPr>
          <p:nvPr/>
        </p:nvCxnSpPr>
        <p:spPr>
          <a:xfrm flipV="1">
            <a:off x="10103923" y="1421300"/>
            <a:ext cx="250911" cy="146028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503470C7-FA9B-30B1-0CCC-19A5B2959F70}"/>
              </a:ext>
            </a:extLst>
          </p:cNvPr>
          <p:cNvSpPr/>
          <p:nvPr/>
        </p:nvSpPr>
        <p:spPr>
          <a:xfrm>
            <a:off x="11143737" y="413258"/>
            <a:ext cx="87689" cy="8768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D0F4CF1-3BDA-D994-7BD0-56F26EE2F920}"/>
              </a:ext>
            </a:extLst>
          </p:cNvPr>
          <p:cNvCxnSpPr>
            <a:cxnSpLocks/>
            <a:stCxn id="27" idx="7"/>
          </p:cNvCxnSpPr>
          <p:nvPr/>
        </p:nvCxnSpPr>
        <p:spPr>
          <a:xfrm flipV="1">
            <a:off x="10289661" y="500947"/>
            <a:ext cx="854076" cy="428206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9833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E0A2A-7D30-46C7-137C-FE3CD5D9C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4569F6-34D7-FD70-F0F4-C487C8411C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B3E1E6F-B3E2-435B-36D8-A3327F24D927}"/>
              </a:ext>
            </a:extLst>
          </p:cNvPr>
          <p:cNvSpPr/>
          <p:nvPr/>
        </p:nvSpPr>
        <p:spPr>
          <a:xfrm>
            <a:off x="9408328" y="0"/>
            <a:ext cx="27836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6611BF-F0BA-31B3-E041-2B9AEFB290EF}"/>
              </a:ext>
            </a:extLst>
          </p:cNvPr>
          <p:cNvSpPr txBox="1"/>
          <p:nvPr/>
        </p:nvSpPr>
        <p:spPr>
          <a:xfrm>
            <a:off x="9458840" y="5842335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 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B4F188-1084-6CAD-4AF2-1D8687F37405}"/>
              </a:ext>
            </a:extLst>
          </p:cNvPr>
          <p:cNvSpPr txBox="1"/>
          <p:nvPr/>
        </p:nvSpPr>
        <p:spPr>
          <a:xfrm>
            <a:off x="9187712" y="6165501"/>
            <a:ext cx="3029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30 Dec’ 26</a:t>
            </a:r>
          </a:p>
          <a:p>
            <a:pPr algn="r"/>
            <a:r>
              <a:rPr lang="en-US" dirty="0" err="1">
                <a:latin typeface="Clash Display Light" pitchFamily="2" charset="0"/>
              </a:rPr>
              <a:t>Jispa</a:t>
            </a:r>
            <a:r>
              <a:rPr lang="en-US" dirty="0">
                <a:latin typeface="Clash Display Light" pitchFamily="2" charset="0"/>
              </a:rPr>
              <a:t> Halt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62B817-70EF-534A-7365-153447A4E5DC}"/>
              </a:ext>
            </a:extLst>
          </p:cNvPr>
          <p:cNvSpPr txBox="1"/>
          <p:nvPr/>
        </p:nvSpPr>
        <p:spPr>
          <a:xfrm>
            <a:off x="133350" y="384667"/>
            <a:ext cx="1150620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  <a:latin typeface="Clash Display Semibold" pitchFamily="2" charset="0"/>
              </a:rPr>
              <a:t>Jispa</a:t>
            </a:r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 halt</a:t>
            </a: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Stay back in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Jispa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and explore places in and around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Jispa</a:t>
            </a: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Spots in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Keylong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Local treks and trails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Majorly chilling cause the next day would be a little hectic travel day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A701674-1DA9-6D87-CF48-48C176B4B333}"/>
              </a:ext>
            </a:extLst>
          </p:cNvPr>
          <p:cNvGrpSpPr/>
          <p:nvPr/>
        </p:nvGrpSpPr>
        <p:grpSpPr>
          <a:xfrm>
            <a:off x="9408328" y="338499"/>
            <a:ext cx="2783672" cy="3327753"/>
            <a:chOff x="6400801" y="-22844"/>
            <a:chExt cx="5791200" cy="692311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F8729FB-E554-1FCD-AD51-8AAA764317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</a:blip>
            <a:stretch>
              <a:fillRect/>
            </a:stretch>
          </p:blipFill>
          <p:spPr>
            <a:xfrm>
              <a:off x="6400801" y="-22844"/>
              <a:ext cx="5791200" cy="6923116"/>
            </a:xfrm>
            <a:prstGeom prst="rect">
              <a:avLst/>
            </a:prstGeom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C4927F3-5F94-E485-76A2-C604FF0E9A0C}"/>
                </a:ext>
              </a:extLst>
            </p:cNvPr>
            <p:cNvSpPr/>
            <p:nvPr/>
          </p:nvSpPr>
          <p:spPr>
            <a:xfrm>
              <a:off x="10193607" y="6216650"/>
              <a:ext cx="182429" cy="18242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3C0B4D6-5649-0EF7-BCA9-B2CC8F17A560}"/>
                </a:ext>
              </a:extLst>
            </p:cNvPr>
            <p:cNvSpPr/>
            <p:nvPr/>
          </p:nvSpPr>
          <p:spPr>
            <a:xfrm>
              <a:off x="9166058" y="2660650"/>
              <a:ext cx="182429" cy="18242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E06DFDB-32A9-AB3A-25BA-089FA07DB09A}"/>
                </a:ext>
              </a:extLst>
            </p:cNvPr>
            <p:cNvCxnSpPr>
              <a:cxnSpLocks/>
              <a:endCxn id="11" idx="5"/>
            </p:cNvCxnSpPr>
            <p:nvPr/>
          </p:nvCxnSpPr>
          <p:spPr>
            <a:xfrm flipH="1" flipV="1">
              <a:off x="9321771" y="2816363"/>
              <a:ext cx="871836" cy="3400287"/>
            </a:xfrm>
            <a:prstGeom prst="line">
              <a:avLst/>
            </a:prstGeom>
            <a:ln w="3810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D500679-6B3A-F7B5-1F9A-BD70DA77DE95}"/>
                </a:ext>
              </a:extLst>
            </p:cNvPr>
            <p:cNvSpPr/>
            <p:nvPr/>
          </p:nvSpPr>
          <p:spPr>
            <a:xfrm>
              <a:off x="7692216" y="2506917"/>
              <a:ext cx="182430" cy="18243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44827DD-5098-78A4-8C4C-B4966C7C2060}"/>
                </a:ext>
              </a:extLst>
            </p:cNvPr>
            <p:cNvSpPr/>
            <p:nvPr/>
          </p:nvSpPr>
          <p:spPr>
            <a:xfrm>
              <a:off x="7355344" y="1565659"/>
              <a:ext cx="182430" cy="18243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B1E3219-3775-3243-102F-533C6BE1B355}"/>
                </a:ext>
              </a:extLst>
            </p:cNvPr>
            <p:cNvSpPr/>
            <p:nvPr/>
          </p:nvSpPr>
          <p:spPr>
            <a:xfrm>
              <a:off x="8078629" y="1179246"/>
              <a:ext cx="182430" cy="18243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D2A14F6-DC12-8417-3C3B-6A3C3A02B9A3}"/>
              </a:ext>
            </a:extLst>
          </p:cNvPr>
          <p:cNvCxnSpPr>
            <a:cxnSpLocks/>
            <a:stCxn id="22" idx="5"/>
          </p:cNvCxnSpPr>
          <p:nvPr/>
        </p:nvCxnSpPr>
        <p:spPr>
          <a:xfrm>
            <a:off x="9941998" y="1176896"/>
            <a:ext cx="790748" cy="451485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4B2FED9-D0FD-A9AE-B58E-0CD9CC0D6D19}"/>
              </a:ext>
            </a:extLst>
          </p:cNvPr>
          <p:cNvCxnSpPr>
            <a:cxnSpLocks/>
            <a:stCxn id="22" idx="6"/>
            <a:endCxn id="24" idx="3"/>
          </p:cNvCxnSpPr>
          <p:nvPr/>
        </p:nvCxnSpPr>
        <p:spPr>
          <a:xfrm flipV="1">
            <a:off x="9954840" y="991158"/>
            <a:ext cx="272816" cy="154736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7F27D59-0C97-9B55-B2C5-1EBB4754DF25}"/>
              </a:ext>
            </a:extLst>
          </p:cNvPr>
          <p:cNvCxnSpPr>
            <a:cxnSpLocks/>
            <a:stCxn id="13" idx="7"/>
          </p:cNvCxnSpPr>
          <p:nvPr/>
        </p:nvCxnSpPr>
        <p:spPr>
          <a:xfrm flipV="1">
            <a:off x="10103923" y="1421300"/>
            <a:ext cx="250911" cy="146028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A5FF96CD-4727-5EE0-9087-DDFBECD377BA}"/>
              </a:ext>
            </a:extLst>
          </p:cNvPr>
          <p:cNvSpPr/>
          <p:nvPr/>
        </p:nvSpPr>
        <p:spPr>
          <a:xfrm>
            <a:off x="11143737" y="413258"/>
            <a:ext cx="87689" cy="8768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6BC947E-5857-69EE-03D2-BDCA5C33E4CF}"/>
              </a:ext>
            </a:extLst>
          </p:cNvPr>
          <p:cNvCxnSpPr>
            <a:cxnSpLocks/>
            <a:stCxn id="24" idx="7"/>
          </p:cNvCxnSpPr>
          <p:nvPr/>
        </p:nvCxnSpPr>
        <p:spPr>
          <a:xfrm flipV="1">
            <a:off x="10289661" y="500947"/>
            <a:ext cx="854076" cy="428206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941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61C3B-9E7D-0372-ECF6-7B898F76A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98FAD99-E13B-772C-9ADC-B6E0CB6C55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189A74A-3172-74A6-F22D-F3D38920735D}"/>
              </a:ext>
            </a:extLst>
          </p:cNvPr>
          <p:cNvSpPr/>
          <p:nvPr/>
        </p:nvSpPr>
        <p:spPr>
          <a:xfrm>
            <a:off x="9408328" y="0"/>
            <a:ext cx="27836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FADE54-C425-AAA1-2E03-07A91A5C404E}"/>
              </a:ext>
            </a:extLst>
          </p:cNvPr>
          <p:cNvSpPr txBox="1"/>
          <p:nvPr/>
        </p:nvSpPr>
        <p:spPr>
          <a:xfrm>
            <a:off x="9458840" y="5842335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 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B2B989-B101-81FE-F7BE-DEFA6DD1CAC8}"/>
              </a:ext>
            </a:extLst>
          </p:cNvPr>
          <p:cNvSpPr txBox="1"/>
          <p:nvPr/>
        </p:nvSpPr>
        <p:spPr>
          <a:xfrm>
            <a:off x="9187712" y="6165501"/>
            <a:ext cx="3029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31 Dec’ 26</a:t>
            </a:r>
          </a:p>
          <a:p>
            <a:pPr algn="r"/>
            <a:r>
              <a:rPr lang="en-US" dirty="0" err="1">
                <a:latin typeface="Clash Display Light" pitchFamily="2" charset="0"/>
              </a:rPr>
              <a:t>Jispa</a:t>
            </a:r>
            <a:r>
              <a:rPr lang="en-US" dirty="0">
                <a:latin typeface="Clash Display Light" pitchFamily="2" charset="0"/>
              </a:rPr>
              <a:t> to </a:t>
            </a:r>
            <a:r>
              <a:rPr lang="en-US" dirty="0" err="1">
                <a:latin typeface="Clash Display Light" pitchFamily="2" charset="0"/>
              </a:rPr>
              <a:t>Koksar</a:t>
            </a:r>
            <a:endParaRPr lang="en-US" dirty="0">
              <a:latin typeface="Clash Display Light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126954-AD92-F61F-653E-EFACAFC7B3EC}"/>
              </a:ext>
            </a:extLst>
          </p:cNvPr>
          <p:cNvSpPr txBox="1"/>
          <p:nvPr/>
        </p:nvSpPr>
        <p:spPr>
          <a:xfrm>
            <a:off x="133350" y="384667"/>
            <a:ext cx="11506200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  <a:latin typeface="Clash Display Semibold" pitchFamily="2" charset="0"/>
              </a:rPr>
              <a:t>Jispa</a:t>
            </a:r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 to </a:t>
            </a:r>
            <a:r>
              <a:rPr lang="en-US" sz="2000" dirty="0" err="1">
                <a:solidFill>
                  <a:schemeClr val="bg1"/>
                </a:solidFill>
                <a:latin typeface="Clash Display Semibold" pitchFamily="2" charset="0"/>
              </a:rPr>
              <a:t>Koksar</a:t>
            </a:r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Return to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Koksar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from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Jispa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stay there in the night, celebrate new year and do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whatever the fuck you want to do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Jispa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to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Koksar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distance – 67 kms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Time as per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Gmaps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– 1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hrs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40 mins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Actual time – 3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Hrs</a:t>
            </a: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Leave at around 8.00 am from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Jispa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and reach by 11.00 am at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Koksar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, check-in,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freshen up, have lunch and explore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Koksar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Return to the stay by 8/9pm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Clash Display Semibold" pitchFamily="2" charset="0"/>
              </a:rPr>
              <a:t>Happy new year 2027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77ABB53-9A4C-7CEE-F6D8-5E47F59773B1}"/>
              </a:ext>
            </a:extLst>
          </p:cNvPr>
          <p:cNvGrpSpPr/>
          <p:nvPr/>
        </p:nvGrpSpPr>
        <p:grpSpPr>
          <a:xfrm>
            <a:off x="9408328" y="338499"/>
            <a:ext cx="2783672" cy="3327753"/>
            <a:chOff x="6400801" y="-22844"/>
            <a:chExt cx="5791200" cy="692311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50B3406-F816-A302-BBF7-45B0A6A50C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</a:blip>
            <a:stretch>
              <a:fillRect/>
            </a:stretch>
          </p:blipFill>
          <p:spPr>
            <a:xfrm>
              <a:off x="6400801" y="-22844"/>
              <a:ext cx="5791200" cy="6923116"/>
            </a:xfrm>
            <a:prstGeom prst="rect">
              <a:avLst/>
            </a:prstGeom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624D8DC-1F2E-75D4-A6AA-F0D86B83CB01}"/>
                </a:ext>
              </a:extLst>
            </p:cNvPr>
            <p:cNvSpPr/>
            <p:nvPr/>
          </p:nvSpPr>
          <p:spPr>
            <a:xfrm>
              <a:off x="10193607" y="6216650"/>
              <a:ext cx="182429" cy="18242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5D07507-F702-1D8E-408F-CF6534561900}"/>
                </a:ext>
              </a:extLst>
            </p:cNvPr>
            <p:cNvSpPr/>
            <p:nvPr/>
          </p:nvSpPr>
          <p:spPr>
            <a:xfrm>
              <a:off x="9166058" y="2660650"/>
              <a:ext cx="182429" cy="18242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DE55B4D-1AE6-64BC-DD32-BF5668E6B290}"/>
                </a:ext>
              </a:extLst>
            </p:cNvPr>
            <p:cNvCxnSpPr>
              <a:cxnSpLocks/>
              <a:endCxn id="11" idx="5"/>
            </p:cNvCxnSpPr>
            <p:nvPr/>
          </p:nvCxnSpPr>
          <p:spPr>
            <a:xfrm flipH="1" flipV="1">
              <a:off x="9321771" y="2816363"/>
              <a:ext cx="871836" cy="3400287"/>
            </a:xfrm>
            <a:prstGeom prst="line">
              <a:avLst/>
            </a:prstGeom>
            <a:ln w="3810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084F555-BBF7-F1FA-AA80-A327DC9DF426}"/>
                </a:ext>
              </a:extLst>
            </p:cNvPr>
            <p:cNvSpPr/>
            <p:nvPr/>
          </p:nvSpPr>
          <p:spPr>
            <a:xfrm>
              <a:off x="7692216" y="2506917"/>
              <a:ext cx="182430" cy="18243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E611D8B-2A87-7CE7-F0E5-778735B14D80}"/>
                </a:ext>
              </a:extLst>
            </p:cNvPr>
            <p:cNvSpPr/>
            <p:nvPr/>
          </p:nvSpPr>
          <p:spPr>
            <a:xfrm>
              <a:off x="7355344" y="1565659"/>
              <a:ext cx="182430" cy="18243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D56E03D-8BDB-234B-DE89-0D03F0876297}"/>
                </a:ext>
              </a:extLst>
            </p:cNvPr>
            <p:cNvSpPr/>
            <p:nvPr/>
          </p:nvSpPr>
          <p:spPr>
            <a:xfrm>
              <a:off x="8078629" y="1179246"/>
              <a:ext cx="182430" cy="18243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F99AA4D-573B-4A3A-106E-D7429DDEFC55}"/>
              </a:ext>
            </a:extLst>
          </p:cNvPr>
          <p:cNvCxnSpPr>
            <a:cxnSpLocks/>
            <a:stCxn id="22" idx="5"/>
          </p:cNvCxnSpPr>
          <p:nvPr/>
        </p:nvCxnSpPr>
        <p:spPr>
          <a:xfrm>
            <a:off x="9941998" y="1176896"/>
            <a:ext cx="790748" cy="451485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6A7215F-8EA5-BEAC-6689-8774D5CE0A5E}"/>
              </a:ext>
            </a:extLst>
          </p:cNvPr>
          <p:cNvCxnSpPr>
            <a:cxnSpLocks/>
            <a:stCxn id="22" idx="6"/>
            <a:endCxn id="24" idx="3"/>
          </p:cNvCxnSpPr>
          <p:nvPr/>
        </p:nvCxnSpPr>
        <p:spPr>
          <a:xfrm flipV="1">
            <a:off x="9954840" y="991158"/>
            <a:ext cx="272816" cy="154736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07845DA-6C17-72AE-90E5-FC93061B703B}"/>
              </a:ext>
            </a:extLst>
          </p:cNvPr>
          <p:cNvCxnSpPr>
            <a:cxnSpLocks/>
            <a:stCxn id="13" idx="7"/>
          </p:cNvCxnSpPr>
          <p:nvPr/>
        </p:nvCxnSpPr>
        <p:spPr>
          <a:xfrm flipV="1">
            <a:off x="10103923" y="1421300"/>
            <a:ext cx="250911" cy="146028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A597EB39-78C1-54AC-95C6-14A6FAC51B94}"/>
              </a:ext>
            </a:extLst>
          </p:cNvPr>
          <p:cNvSpPr/>
          <p:nvPr/>
        </p:nvSpPr>
        <p:spPr>
          <a:xfrm>
            <a:off x="11143737" y="413258"/>
            <a:ext cx="87689" cy="8768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DA7924A-917F-1615-8CCF-886DFE595A41}"/>
              </a:ext>
            </a:extLst>
          </p:cNvPr>
          <p:cNvCxnSpPr>
            <a:cxnSpLocks/>
            <a:stCxn id="24" idx="7"/>
          </p:cNvCxnSpPr>
          <p:nvPr/>
        </p:nvCxnSpPr>
        <p:spPr>
          <a:xfrm flipV="1">
            <a:off x="10289661" y="500947"/>
            <a:ext cx="854076" cy="428206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61CE366-53B4-73AA-7B8B-30B73100FFB4}"/>
              </a:ext>
            </a:extLst>
          </p:cNvPr>
          <p:cNvCxnSpPr>
            <a:cxnSpLocks/>
          </p:cNvCxnSpPr>
          <p:nvPr/>
        </p:nvCxnSpPr>
        <p:spPr>
          <a:xfrm>
            <a:off x="10825201" y="1716070"/>
            <a:ext cx="790748" cy="451485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668A65B7-51D2-C0CE-423F-C4E8CB70A59E}"/>
              </a:ext>
            </a:extLst>
          </p:cNvPr>
          <p:cNvSpPr/>
          <p:nvPr/>
        </p:nvSpPr>
        <p:spPr>
          <a:xfrm>
            <a:off x="11541102" y="2123710"/>
            <a:ext cx="87689" cy="8768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6830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2765E-9828-9C00-E9B5-AA772FCBD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58FC7FB-E83D-C77A-002A-EECAE03499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2AEAD08-2A40-CE49-1F91-77E6AE3CEC7D}"/>
              </a:ext>
            </a:extLst>
          </p:cNvPr>
          <p:cNvSpPr/>
          <p:nvPr/>
        </p:nvSpPr>
        <p:spPr>
          <a:xfrm>
            <a:off x="9408328" y="0"/>
            <a:ext cx="27836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EAFFDD-2C40-8359-F790-508975E5DE49}"/>
              </a:ext>
            </a:extLst>
          </p:cNvPr>
          <p:cNvSpPr txBox="1"/>
          <p:nvPr/>
        </p:nvSpPr>
        <p:spPr>
          <a:xfrm>
            <a:off x="9458840" y="5842335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 9 &amp; 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81409E-D97F-FCF8-163F-63263ED5D180}"/>
              </a:ext>
            </a:extLst>
          </p:cNvPr>
          <p:cNvSpPr txBox="1"/>
          <p:nvPr/>
        </p:nvSpPr>
        <p:spPr>
          <a:xfrm>
            <a:off x="9187712" y="6165501"/>
            <a:ext cx="3029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1 &amp; 2 Jan’ 27</a:t>
            </a:r>
          </a:p>
          <a:p>
            <a:pPr algn="r"/>
            <a:r>
              <a:rPr lang="en-US" dirty="0" err="1">
                <a:latin typeface="Clash Display Light" pitchFamily="2" charset="0"/>
              </a:rPr>
              <a:t>Koksar</a:t>
            </a:r>
            <a:r>
              <a:rPr lang="en-US" dirty="0">
                <a:latin typeface="Clash Display Light" pitchFamily="2" charset="0"/>
              </a:rPr>
              <a:t> to Manali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C2BAF2-72CA-73F9-F8A4-1405D7C828C1}"/>
              </a:ext>
            </a:extLst>
          </p:cNvPr>
          <p:cNvSpPr txBox="1"/>
          <p:nvPr/>
        </p:nvSpPr>
        <p:spPr>
          <a:xfrm>
            <a:off x="133350" y="384667"/>
            <a:ext cx="11506200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  <a:latin typeface="Clash Display Semibold" pitchFamily="2" charset="0"/>
              </a:rPr>
              <a:t>Koksar</a:t>
            </a:r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 to Manali to Delhi to Pune</a:t>
            </a: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Return to Manali from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Koksar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doing adventure activities through out the day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Koksar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to Manali distance – 41 kms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Time as per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Gmaps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– 1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hrs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20 mins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Actual time – 8 to 10 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Hrs</a:t>
            </a: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Leave at around 8.00 am from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Koksar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and reach by 6.00 pm at Manali,, freshen up,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have dinner and take a bus to Delhi on 1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jan</a:t>
            </a: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Reach Delhi by 11.00 am. On 2 Jan Check-in in Delhi freshen up, shop, café hop, rest as per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Personal preferences and take a late night or early morning flight to Pune on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3 Jan 2027.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166E419-3232-D2EA-BAF6-FC3FEED1A633}"/>
              </a:ext>
            </a:extLst>
          </p:cNvPr>
          <p:cNvGrpSpPr/>
          <p:nvPr/>
        </p:nvGrpSpPr>
        <p:grpSpPr>
          <a:xfrm>
            <a:off x="9408328" y="338499"/>
            <a:ext cx="2783672" cy="3327753"/>
            <a:chOff x="6400801" y="-22844"/>
            <a:chExt cx="5791200" cy="692311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68355C1-51E6-08F0-D1EE-5A063B6B07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</a:blip>
            <a:stretch>
              <a:fillRect/>
            </a:stretch>
          </p:blipFill>
          <p:spPr>
            <a:xfrm>
              <a:off x="6400801" y="-22844"/>
              <a:ext cx="5791200" cy="6923116"/>
            </a:xfrm>
            <a:prstGeom prst="rect">
              <a:avLst/>
            </a:prstGeom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7951338-3E07-FD37-0444-2B21F9ADE0A5}"/>
                </a:ext>
              </a:extLst>
            </p:cNvPr>
            <p:cNvSpPr/>
            <p:nvPr/>
          </p:nvSpPr>
          <p:spPr>
            <a:xfrm>
              <a:off x="10193607" y="6216650"/>
              <a:ext cx="182429" cy="18242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00AAA75-3F2E-C074-7447-54EDD863926E}"/>
                </a:ext>
              </a:extLst>
            </p:cNvPr>
            <p:cNvSpPr/>
            <p:nvPr/>
          </p:nvSpPr>
          <p:spPr>
            <a:xfrm>
              <a:off x="9166058" y="2660650"/>
              <a:ext cx="182429" cy="18242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59B392B-0461-A736-FC13-B7B889F73B19}"/>
                </a:ext>
              </a:extLst>
            </p:cNvPr>
            <p:cNvCxnSpPr>
              <a:cxnSpLocks/>
              <a:endCxn id="11" idx="5"/>
            </p:cNvCxnSpPr>
            <p:nvPr/>
          </p:nvCxnSpPr>
          <p:spPr>
            <a:xfrm flipH="1" flipV="1">
              <a:off x="9321771" y="2816363"/>
              <a:ext cx="871836" cy="3400287"/>
            </a:xfrm>
            <a:prstGeom prst="line">
              <a:avLst/>
            </a:prstGeom>
            <a:ln w="3810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254C46D-F7D5-ECA4-0114-848C96B2BBA3}"/>
                </a:ext>
              </a:extLst>
            </p:cNvPr>
            <p:cNvSpPr/>
            <p:nvPr/>
          </p:nvSpPr>
          <p:spPr>
            <a:xfrm>
              <a:off x="7692216" y="2506917"/>
              <a:ext cx="182430" cy="18243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65B2914-28A2-E873-0C19-4CE7DA919B7F}"/>
                </a:ext>
              </a:extLst>
            </p:cNvPr>
            <p:cNvSpPr/>
            <p:nvPr/>
          </p:nvSpPr>
          <p:spPr>
            <a:xfrm>
              <a:off x="7355344" y="1565659"/>
              <a:ext cx="182430" cy="18243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55C1ECC-7AAC-30C9-7BC7-26704E3BC6DB}"/>
                </a:ext>
              </a:extLst>
            </p:cNvPr>
            <p:cNvSpPr/>
            <p:nvPr/>
          </p:nvSpPr>
          <p:spPr>
            <a:xfrm>
              <a:off x="8078629" y="1179246"/>
              <a:ext cx="182430" cy="18243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FD4EC99-610F-835D-8758-532DABB579D6}"/>
              </a:ext>
            </a:extLst>
          </p:cNvPr>
          <p:cNvCxnSpPr>
            <a:cxnSpLocks/>
            <a:stCxn id="22" idx="5"/>
          </p:cNvCxnSpPr>
          <p:nvPr/>
        </p:nvCxnSpPr>
        <p:spPr>
          <a:xfrm>
            <a:off x="9941998" y="1176896"/>
            <a:ext cx="790748" cy="451485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6C281E1-F516-AA36-AE70-B212B7F8F5FB}"/>
              </a:ext>
            </a:extLst>
          </p:cNvPr>
          <p:cNvCxnSpPr>
            <a:cxnSpLocks/>
            <a:stCxn id="22" idx="6"/>
            <a:endCxn id="24" idx="3"/>
          </p:cNvCxnSpPr>
          <p:nvPr/>
        </p:nvCxnSpPr>
        <p:spPr>
          <a:xfrm flipV="1">
            <a:off x="9954840" y="991158"/>
            <a:ext cx="272816" cy="154736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563381D-B20D-A8D2-C5C5-3804CB2344EA}"/>
              </a:ext>
            </a:extLst>
          </p:cNvPr>
          <p:cNvCxnSpPr>
            <a:cxnSpLocks/>
            <a:stCxn id="13" idx="7"/>
          </p:cNvCxnSpPr>
          <p:nvPr/>
        </p:nvCxnSpPr>
        <p:spPr>
          <a:xfrm flipV="1">
            <a:off x="10103923" y="1421300"/>
            <a:ext cx="250911" cy="146028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655207F2-64B0-2D18-1749-2FF661732D22}"/>
              </a:ext>
            </a:extLst>
          </p:cNvPr>
          <p:cNvSpPr/>
          <p:nvPr/>
        </p:nvSpPr>
        <p:spPr>
          <a:xfrm>
            <a:off x="11143737" y="413258"/>
            <a:ext cx="87689" cy="8768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EEA9122-FFA9-9C78-18D1-34E12DBF6616}"/>
              </a:ext>
            </a:extLst>
          </p:cNvPr>
          <p:cNvCxnSpPr>
            <a:cxnSpLocks/>
            <a:stCxn id="24" idx="7"/>
          </p:cNvCxnSpPr>
          <p:nvPr/>
        </p:nvCxnSpPr>
        <p:spPr>
          <a:xfrm flipV="1">
            <a:off x="10289661" y="500947"/>
            <a:ext cx="854076" cy="428206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607C918-EDA1-EFFD-DC85-984CF95C49BF}"/>
              </a:ext>
            </a:extLst>
          </p:cNvPr>
          <p:cNvCxnSpPr>
            <a:cxnSpLocks/>
          </p:cNvCxnSpPr>
          <p:nvPr/>
        </p:nvCxnSpPr>
        <p:spPr>
          <a:xfrm>
            <a:off x="10825201" y="1716070"/>
            <a:ext cx="790748" cy="451485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1EE502D8-C8C8-D0CB-3639-4F085AC1DD1E}"/>
              </a:ext>
            </a:extLst>
          </p:cNvPr>
          <p:cNvSpPr/>
          <p:nvPr/>
        </p:nvSpPr>
        <p:spPr>
          <a:xfrm>
            <a:off x="11541102" y="2123710"/>
            <a:ext cx="87689" cy="8768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1779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89BB0-9043-7562-21DB-1F851C22D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21B16C2-1F6D-067A-0F99-12B1391D373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4F22081-103F-F227-4A5D-37BC6EF2C0D2}"/>
              </a:ext>
            </a:extLst>
          </p:cNvPr>
          <p:cNvSpPr/>
          <p:nvPr/>
        </p:nvSpPr>
        <p:spPr>
          <a:xfrm>
            <a:off x="9620250" y="6153150"/>
            <a:ext cx="2622262" cy="6967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9CFA06-1040-FEAE-0C96-38A50165DFAA}"/>
              </a:ext>
            </a:extLst>
          </p:cNvPr>
          <p:cNvSpPr txBox="1"/>
          <p:nvPr/>
        </p:nvSpPr>
        <p:spPr>
          <a:xfrm>
            <a:off x="9433440" y="6308036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Weather conditions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57F0B3-C520-BC7E-FAD2-1C392BB1B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526"/>
            <a:ext cx="9620250" cy="504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8591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47B75-21A0-B14C-6157-0843CCA5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7D75F99-257A-18A0-1E28-097025F41D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8CD068-4A04-D128-5AA9-A0C4141E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958" y="0"/>
            <a:ext cx="6858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2FAE65-57B8-BDE4-C881-7FB03E34FA2C}"/>
              </a:ext>
            </a:extLst>
          </p:cNvPr>
          <p:cNvSpPr txBox="1"/>
          <p:nvPr/>
        </p:nvSpPr>
        <p:spPr>
          <a:xfrm>
            <a:off x="176464" y="3772114"/>
            <a:ext cx="100102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Clash Display Medium" pitchFamily="2" charset="0"/>
              </a:rPr>
              <a:t>Winter  Himachal  </a:t>
            </a:r>
          </a:p>
          <a:p>
            <a:r>
              <a:rPr lang="en-US" sz="6000" dirty="0">
                <a:solidFill>
                  <a:schemeClr val="bg1"/>
                </a:solidFill>
                <a:latin typeface="Clash Display Medium" pitchFamily="2" charset="0"/>
              </a:rPr>
              <a:t>Itinerary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40F5B1-F9DC-80F6-5737-83BB5CFDABB4}"/>
              </a:ext>
            </a:extLst>
          </p:cNvPr>
          <p:cNvSpPr txBox="1"/>
          <p:nvPr/>
        </p:nvSpPr>
        <p:spPr>
          <a:xfrm>
            <a:off x="192506" y="5718218"/>
            <a:ext cx="7170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23 Dec’ 26 – 02 Jan’ 27</a:t>
            </a:r>
          </a:p>
          <a:p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Malana – </a:t>
            </a:r>
            <a:r>
              <a:rPr lang="en-US" sz="2000" dirty="0" err="1">
                <a:solidFill>
                  <a:schemeClr val="bg1"/>
                </a:solidFill>
                <a:latin typeface="Clash Display Light" pitchFamily="2" charset="0"/>
              </a:rPr>
              <a:t>Manikaran</a:t>
            </a:r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 – </a:t>
            </a:r>
            <a:r>
              <a:rPr lang="en-US" sz="2000" dirty="0" err="1">
                <a:solidFill>
                  <a:schemeClr val="bg1"/>
                </a:solidFill>
                <a:latin typeface="Clash Display Light" pitchFamily="2" charset="0"/>
              </a:rPr>
              <a:t>Kalga</a:t>
            </a:r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 – Pulga – Tosh - </a:t>
            </a:r>
            <a:r>
              <a:rPr lang="en-US" sz="2000" dirty="0" err="1">
                <a:solidFill>
                  <a:schemeClr val="bg1"/>
                </a:solidFill>
                <a:latin typeface="Clash Display Light" pitchFamily="2" charset="0"/>
              </a:rPr>
              <a:t>Kasol</a:t>
            </a:r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2630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0A051-CB50-62DA-E7E9-15ED230D1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D029EFE-D462-DF8A-C45A-98490CE026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6ED8985-AB85-99F5-82F3-9FB6A3861A68}"/>
              </a:ext>
            </a:extLst>
          </p:cNvPr>
          <p:cNvSpPr/>
          <p:nvPr/>
        </p:nvSpPr>
        <p:spPr>
          <a:xfrm>
            <a:off x="0" y="0"/>
            <a:ext cx="2758560" cy="1266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1DF85F-854E-A9AD-25B6-BB7FCF09C781}"/>
              </a:ext>
            </a:extLst>
          </p:cNvPr>
          <p:cNvSpPr txBox="1"/>
          <p:nvPr/>
        </p:nvSpPr>
        <p:spPr>
          <a:xfrm>
            <a:off x="0" y="5926880"/>
            <a:ext cx="91660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  <a:latin typeface="Clash Display Medium" pitchFamily="2" charset="0"/>
              </a:rPr>
              <a:t>Route Map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9A633BD-2DB9-35AD-D449-1AD4EA1A9B56}"/>
              </a:ext>
            </a:extLst>
          </p:cNvPr>
          <p:cNvSpPr/>
          <p:nvPr/>
        </p:nvSpPr>
        <p:spPr>
          <a:xfrm>
            <a:off x="170974" y="217501"/>
            <a:ext cx="151693" cy="15169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4F09D3F-92E5-2414-202E-22BEB753E78E}"/>
              </a:ext>
            </a:extLst>
          </p:cNvPr>
          <p:cNvSpPr txBox="1"/>
          <p:nvPr/>
        </p:nvSpPr>
        <p:spPr>
          <a:xfrm>
            <a:off x="378313" y="107418"/>
            <a:ext cx="9166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lash Display Light" pitchFamily="2" charset="0"/>
              </a:rPr>
              <a:t>Places to halt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545DD80-2319-25E3-62FC-E96EA231D5BD}"/>
              </a:ext>
            </a:extLst>
          </p:cNvPr>
          <p:cNvSpPr/>
          <p:nvPr/>
        </p:nvSpPr>
        <p:spPr>
          <a:xfrm>
            <a:off x="170974" y="697903"/>
            <a:ext cx="151693" cy="1516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0A4F2A8-2813-65E9-F80A-612E513F10E1}"/>
              </a:ext>
            </a:extLst>
          </p:cNvPr>
          <p:cNvSpPr txBox="1"/>
          <p:nvPr/>
        </p:nvSpPr>
        <p:spPr>
          <a:xfrm>
            <a:off x="378313" y="584168"/>
            <a:ext cx="9166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lash Display Light" pitchFamily="2" charset="0"/>
              </a:rPr>
              <a:t>De-tour place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B63BF0-0C55-3A1B-4C60-ACD695BAE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72343" y="0"/>
            <a:ext cx="8811636" cy="52197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9EE8DDBF-3BF4-9B9F-44CB-7615C376D18B}"/>
              </a:ext>
            </a:extLst>
          </p:cNvPr>
          <p:cNvSpPr/>
          <p:nvPr/>
        </p:nvSpPr>
        <p:spPr>
          <a:xfrm>
            <a:off x="4679474" y="4616869"/>
            <a:ext cx="222726" cy="22272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97C6A8C-C03C-EEAC-F274-C4D822CDFCBE}"/>
              </a:ext>
            </a:extLst>
          </p:cNvPr>
          <p:cNvSpPr/>
          <p:nvPr/>
        </p:nvSpPr>
        <p:spPr>
          <a:xfrm>
            <a:off x="7232174" y="307733"/>
            <a:ext cx="222726" cy="22272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F6E4CA3-7209-192F-98EA-88CC83B3E9E2}"/>
              </a:ext>
            </a:extLst>
          </p:cNvPr>
          <p:cNvSpPr/>
          <p:nvPr/>
        </p:nvSpPr>
        <p:spPr>
          <a:xfrm>
            <a:off x="9054695" y="1266821"/>
            <a:ext cx="222726" cy="22272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4F429AC-546F-D5A4-F663-3E98FB4F9DFC}"/>
              </a:ext>
            </a:extLst>
          </p:cNvPr>
          <p:cNvSpPr/>
          <p:nvPr/>
        </p:nvSpPr>
        <p:spPr>
          <a:xfrm>
            <a:off x="10940574" y="1971433"/>
            <a:ext cx="222726" cy="22272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EA5C2F2-47F1-31C4-56C9-631BF0D94BC9}"/>
              </a:ext>
            </a:extLst>
          </p:cNvPr>
          <p:cNvSpPr/>
          <p:nvPr/>
        </p:nvSpPr>
        <p:spPr>
          <a:xfrm>
            <a:off x="11258074" y="1415574"/>
            <a:ext cx="222726" cy="22272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FF3A733-6CEE-3C86-F23A-585B8E70637C}"/>
              </a:ext>
            </a:extLst>
          </p:cNvPr>
          <p:cNvSpPr/>
          <p:nvPr/>
        </p:nvSpPr>
        <p:spPr>
          <a:xfrm>
            <a:off x="8375174" y="1663617"/>
            <a:ext cx="222726" cy="22272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DD027CA-56CA-9E24-3156-A1D696439875}"/>
              </a:ext>
            </a:extLst>
          </p:cNvPr>
          <p:cNvCxnSpPr>
            <a:cxnSpLocks/>
            <a:stCxn id="12" idx="7"/>
            <a:endCxn id="13" idx="3"/>
          </p:cNvCxnSpPr>
          <p:nvPr/>
        </p:nvCxnSpPr>
        <p:spPr>
          <a:xfrm flipV="1">
            <a:off x="4869583" y="497842"/>
            <a:ext cx="2395208" cy="4151644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46FFB30-2CED-A6B4-EB6E-86D827A717B1}"/>
              </a:ext>
            </a:extLst>
          </p:cNvPr>
          <p:cNvCxnSpPr>
            <a:cxnSpLocks/>
            <a:stCxn id="14" idx="1"/>
            <a:endCxn id="13" idx="6"/>
          </p:cNvCxnSpPr>
          <p:nvPr/>
        </p:nvCxnSpPr>
        <p:spPr>
          <a:xfrm flipH="1" flipV="1">
            <a:off x="7454900" y="419096"/>
            <a:ext cx="1632412" cy="880342"/>
          </a:xfrm>
          <a:prstGeom prst="line">
            <a:avLst/>
          </a:prstGeom>
          <a:ln w="38100">
            <a:solidFill>
              <a:schemeClr val="accent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A053369-DC0B-873F-488A-BB57AD5191F6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9277421" y="1415574"/>
            <a:ext cx="1663153" cy="667222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728AA92-6B3A-5369-2494-3B4EC76180D7}"/>
              </a:ext>
            </a:extLst>
          </p:cNvPr>
          <p:cNvCxnSpPr>
            <a:cxnSpLocks/>
            <a:endCxn id="16" idx="4"/>
          </p:cNvCxnSpPr>
          <p:nvPr/>
        </p:nvCxnSpPr>
        <p:spPr>
          <a:xfrm flipV="1">
            <a:off x="11163300" y="1638300"/>
            <a:ext cx="206137" cy="333133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CF23019-CE1F-2CED-43A1-09297AC60D96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8597900" y="1526937"/>
            <a:ext cx="2660174" cy="263763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943BB70-58BB-9BFF-BD19-7C836FEE5850}"/>
              </a:ext>
            </a:extLst>
          </p:cNvPr>
          <p:cNvSpPr txBox="1"/>
          <p:nvPr/>
        </p:nvSpPr>
        <p:spPr>
          <a:xfrm>
            <a:off x="7487517" y="251415"/>
            <a:ext cx="1371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  <a:latin typeface="Clash Display Semibold" pitchFamily="2" charset="0"/>
              </a:rPr>
              <a:t>Malana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6BFFCC-20EE-DDC6-54A7-7D5F4BF7FDDB}"/>
              </a:ext>
            </a:extLst>
          </p:cNvPr>
          <p:cNvSpPr txBox="1"/>
          <p:nvPr/>
        </p:nvSpPr>
        <p:spPr>
          <a:xfrm>
            <a:off x="4949640" y="4579837"/>
            <a:ext cx="1371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rgbClr val="C00000"/>
                </a:solidFill>
                <a:latin typeface="Clash Display Semibold" pitchFamily="2" charset="0"/>
              </a:rPr>
              <a:t>Bhuntar</a:t>
            </a:r>
            <a:endParaRPr lang="en-US" sz="2000" dirty="0">
              <a:solidFill>
                <a:srgbClr val="C00000"/>
              </a:solidFill>
              <a:latin typeface="Clash Display Semibold" pitchFamily="2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1C4F1F3-2BB2-986C-2617-14749D7CEC48}"/>
              </a:ext>
            </a:extLst>
          </p:cNvPr>
          <p:cNvSpPr txBox="1"/>
          <p:nvPr/>
        </p:nvSpPr>
        <p:spPr>
          <a:xfrm>
            <a:off x="9166058" y="990335"/>
            <a:ext cx="1371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C00000"/>
                </a:solidFill>
                <a:latin typeface="Clash Display Semibold" pitchFamily="2" charset="0"/>
              </a:rPr>
              <a:t>Manikaran</a:t>
            </a:r>
            <a:endParaRPr lang="en-US" sz="1200" dirty="0">
              <a:solidFill>
                <a:srgbClr val="C00000"/>
              </a:solidFill>
              <a:latin typeface="Clash Display Semibold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44927FA-3548-1EF5-487D-828798EF2066}"/>
              </a:ext>
            </a:extLst>
          </p:cNvPr>
          <p:cNvSpPr txBox="1"/>
          <p:nvPr/>
        </p:nvSpPr>
        <p:spPr>
          <a:xfrm>
            <a:off x="10366015" y="2210718"/>
            <a:ext cx="1371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C00000"/>
                </a:solidFill>
                <a:latin typeface="Clash Display Semibold" pitchFamily="2" charset="0"/>
              </a:rPr>
              <a:t>Kalga</a:t>
            </a:r>
            <a:r>
              <a:rPr lang="en-US" sz="1200" dirty="0">
                <a:solidFill>
                  <a:srgbClr val="C00000"/>
                </a:solidFill>
                <a:latin typeface="Clash Display Semibold" pitchFamily="2" charset="0"/>
              </a:rPr>
              <a:t> &amp; Pulga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33A7287-01D7-EB6C-65E7-D3D8037028CF}"/>
              </a:ext>
            </a:extLst>
          </p:cNvPr>
          <p:cNvSpPr txBox="1"/>
          <p:nvPr/>
        </p:nvSpPr>
        <p:spPr>
          <a:xfrm>
            <a:off x="11010265" y="1159571"/>
            <a:ext cx="13718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C00000"/>
                </a:solidFill>
                <a:latin typeface="Clash Display Semibold" pitchFamily="2" charset="0"/>
              </a:rPr>
              <a:t>Tosh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C6096BD-37BA-B9EC-66BF-294EFA5EB013}"/>
              </a:ext>
            </a:extLst>
          </p:cNvPr>
          <p:cNvSpPr txBox="1"/>
          <p:nvPr/>
        </p:nvSpPr>
        <p:spPr>
          <a:xfrm>
            <a:off x="7952250" y="1349472"/>
            <a:ext cx="13718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C00000"/>
                </a:solidFill>
                <a:latin typeface="Clash Display Semibold" pitchFamily="2" charset="0"/>
              </a:rPr>
              <a:t>Kasol</a:t>
            </a:r>
            <a:endParaRPr lang="en-US" sz="1600" dirty="0">
              <a:solidFill>
                <a:srgbClr val="C00000"/>
              </a:solidFill>
              <a:latin typeface="Clash Display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7095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D3007-9959-9940-D695-1DB510B74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552530D-0F8C-E216-B5AB-0A63C9BF2CF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856290A-41A5-1863-6D21-21EA03DB9703}"/>
              </a:ext>
            </a:extLst>
          </p:cNvPr>
          <p:cNvSpPr/>
          <p:nvPr/>
        </p:nvSpPr>
        <p:spPr>
          <a:xfrm>
            <a:off x="9433440" y="5842336"/>
            <a:ext cx="2758560" cy="1015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82438E-3730-BBE4-C1D8-BBC6291F592A}"/>
              </a:ext>
            </a:extLst>
          </p:cNvPr>
          <p:cNvSpPr txBox="1"/>
          <p:nvPr/>
        </p:nvSpPr>
        <p:spPr>
          <a:xfrm>
            <a:off x="0" y="6331863"/>
            <a:ext cx="9166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lash Display Medium" pitchFamily="2" charset="0"/>
              </a:rPr>
              <a:t>Day-wise itinerary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B5E543-12F6-91CB-9868-683DD2CA61A2}"/>
              </a:ext>
            </a:extLst>
          </p:cNvPr>
          <p:cNvSpPr txBox="1"/>
          <p:nvPr/>
        </p:nvSpPr>
        <p:spPr>
          <a:xfrm>
            <a:off x="9433440" y="5842335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EB99F2-767C-F35F-0282-089A248A646B}"/>
              </a:ext>
            </a:extLst>
          </p:cNvPr>
          <p:cNvSpPr txBox="1"/>
          <p:nvPr/>
        </p:nvSpPr>
        <p:spPr>
          <a:xfrm>
            <a:off x="9433440" y="6165501"/>
            <a:ext cx="2758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24 Dec’ 26</a:t>
            </a:r>
          </a:p>
          <a:p>
            <a:pPr algn="r"/>
            <a:r>
              <a:rPr lang="en-US" dirty="0">
                <a:latin typeface="Clash Display Light" pitchFamily="2" charset="0"/>
              </a:rPr>
              <a:t>Delhi to Shimla (Bus)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685BF6-F9AD-EC17-F4A3-0839D700E97D}"/>
              </a:ext>
            </a:extLst>
          </p:cNvPr>
          <p:cNvSpPr txBox="1"/>
          <p:nvPr/>
        </p:nvSpPr>
        <p:spPr>
          <a:xfrm>
            <a:off x="133350" y="384667"/>
            <a:ext cx="12573000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Delhi to </a:t>
            </a:r>
            <a:r>
              <a:rPr lang="en-US" sz="2000" dirty="0" err="1">
                <a:solidFill>
                  <a:schemeClr val="bg1"/>
                </a:solidFill>
                <a:latin typeface="Clash Display Semibold" pitchFamily="2" charset="0"/>
              </a:rPr>
              <a:t>Bhuntar</a:t>
            </a:r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 Bus </a:t>
            </a: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Delhi pick up point – Majnu ka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tila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/ ISBT Kashmere gate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Pick up time – 9.00 pm to 12.00 am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Bhuntar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drop off point –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Bhuntar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By-pass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Drop off time – 7.00 am to 10.30 am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Travel agency with good reviews –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Ram Dalal holidays , Flix Bus,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Deltin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travels,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Kheerganga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Travels, Reo Pro Travels and many more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Travel Expense PP – </a:t>
            </a:r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2500/- to 2800/-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Preferred bus agency –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Deltin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(travelled personally)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Additional expenses of travel &amp; food in Delhi PP – </a:t>
            </a:r>
            <a:r>
              <a:rPr lang="en-US" dirty="0">
                <a:solidFill>
                  <a:schemeClr val="bg1"/>
                </a:solidFill>
                <a:latin typeface="Clash Display Semibold" pitchFamily="2" charset="0"/>
              </a:rPr>
              <a:t>1000/- to 1200/-  (tentatively)</a:t>
            </a: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5658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5E42B-28B7-1D37-7049-B446BAE97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EA69E58-B0C4-F4E1-8537-2D2EB887C2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FE66FCC-A368-2E3D-9F35-C8581D559002}"/>
              </a:ext>
            </a:extLst>
          </p:cNvPr>
          <p:cNvSpPr/>
          <p:nvPr/>
        </p:nvSpPr>
        <p:spPr>
          <a:xfrm>
            <a:off x="9258300" y="5858376"/>
            <a:ext cx="2933700" cy="1015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3B9587-1430-65EB-425F-319E39F26F81}"/>
              </a:ext>
            </a:extLst>
          </p:cNvPr>
          <p:cNvSpPr txBox="1"/>
          <p:nvPr/>
        </p:nvSpPr>
        <p:spPr>
          <a:xfrm>
            <a:off x="57150" y="6274713"/>
            <a:ext cx="3467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lash Display Medium" pitchFamily="2" charset="0"/>
              </a:rPr>
              <a:t>Day-wise itinerary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F93F03-415B-2C3A-B1C0-FAA95CEE8C77}"/>
              </a:ext>
            </a:extLst>
          </p:cNvPr>
          <p:cNvSpPr txBox="1"/>
          <p:nvPr/>
        </p:nvSpPr>
        <p:spPr>
          <a:xfrm>
            <a:off x="3303510" y="6007085"/>
            <a:ext cx="3169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tx1">
                    <a:lumMod val="50000"/>
                    <a:lumOff val="50000"/>
                  </a:schemeClr>
                </a:solidFill>
                <a:latin typeface="Clash Display Semibold" pitchFamily="2" charset="0"/>
              </a:rPr>
              <a:t>/ 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2DDCCD-D84E-24B9-89DA-D9BE0D3F827B}"/>
              </a:ext>
            </a:extLst>
          </p:cNvPr>
          <p:cNvSpPr txBox="1"/>
          <p:nvPr/>
        </p:nvSpPr>
        <p:spPr>
          <a:xfrm>
            <a:off x="9458840" y="5842335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482F46-4C0C-37C1-2B40-E280F80AFA70}"/>
              </a:ext>
            </a:extLst>
          </p:cNvPr>
          <p:cNvSpPr txBox="1"/>
          <p:nvPr/>
        </p:nvSpPr>
        <p:spPr>
          <a:xfrm>
            <a:off x="8903368" y="6165501"/>
            <a:ext cx="3314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25 Dec’ 26</a:t>
            </a:r>
          </a:p>
          <a:p>
            <a:pPr algn="r"/>
            <a:r>
              <a:rPr lang="en-US" dirty="0" err="1">
                <a:latin typeface="Clash Display Light" pitchFamily="2" charset="0"/>
              </a:rPr>
              <a:t>Bhuntar</a:t>
            </a:r>
            <a:r>
              <a:rPr lang="en-US" dirty="0">
                <a:latin typeface="Clash Display Light" pitchFamily="2" charset="0"/>
              </a:rPr>
              <a:t> to Malana</a:t>
            </a:r>
          </a:p>
        </p:txBody>
      </p:sp>
    </p:spTree>
    <p:extLst>
      <p:ext uri="{BB962C8B-B14F-4D97-AF65-F5344CB8AC3E}">
        <p14:creationId xmlns:p14="http://schemas.microsoft.com/office/powerpoint/2010/main" val="32455166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974FD-38AA-B4BE-67AA-1B6F6F0D5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AB79F88-9427-7813-72A5-9D2A435FA5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EB3527D-7A5E-E4BC-3E57-09D958DAE64B}"/>
              </a:ext>
            </a:extLst>
          </p:cNvPr>
          <p:cNvSpPr/>
          <p:nvPr/>
        </p:nvSpPr>
        <p:spPr>
          <a:xfrm>
            <a:off x="9408328" y="0"/>
            <a:ext cx="27836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DDC0A5-05C1-A3CD-3D25-AB7C93AFE1F1}"/>
              </a:ext>
            </a:extLst>
          </p:cNvPr>
          <p:cNvSpPr txBox="1"/>
          <p:nvPr/>
        </p:nvSpPr>
        <p:spPr>
          <a:xfrm>
            <a:off x="9458840" y="5842335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CC845B-402B-343D-44A9-22C183F76C82}"/>
              </a:ext>
            </a:extLst>
          </p:cNvPr>
          <p:cNvSpPr txBox="1"/>
          <p:nvPr/>
        </p:nvSpPr>
        <p:spPr>
          <a:xfrm>
            <a:off x="8903368" y="6165501"/>
            <a:ext cx="3314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25 Dec’ 26</a:t>
            </a:r>
          </a:p>
          <a:p>
            <a:pPr algn="r"/>
            <a:r>
              <a:rPr lang="en-US" dirty="0" err="1">
                <a:latin typeface="Clash Display Light" pitchFamily="2" charset="0"/>
              </a:rPr>
              <a:t>Bhuntar</a:t>
            </a:r>
            <a:r>
              <a:rPr lang="en-US" dirty="0">
                <a:latin typeface="Clash Display Light" pitchFamily="2" charset="0"/>
              </a:rPr>
              <a:t> to Malana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D593AA-87ED-8803-EEC5-7278054412C5}"/>
              </a:ext>
            </a:extLst>
          </p:cNvPr>
          <p:cNvSpPr txBox="1"/>
          <p:nvPr/>
        </p:nvSpPr>
        <p:spPr>
          <a:xfrm>
            <a:off x="133350" y="384667"/>
            <a:ext cx="11506200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  <a:latin typeface="Clash Display Semibold" pitchFamily="2" charset="0"/>
              </a:rPr>
              <a:t>Bhuntar</a:t>
            </a:r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  to Malana</a:t>
            </a:r>
            <a:endParaRPr lang="en-US" sz="16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Bhuntar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Pick-up time – 10.30 am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Pick-up point - 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Bhuntar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by-pass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Preferred mode of travel –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tarveler</a:t>
            </a: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Bhuntar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 to Malana  distance – 40 kms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Travel Time according to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Gmaps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– 2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hrs</a:t>
            </a: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Actual travel time – 3 hours (considering pee – poop and sight seeing pit stops)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Malana drop-off time – 1.30 pm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Check-in in Malana, freshen up, score good stuff, take a small trail in the evening,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chill &amp; relax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8557FEE-F9D7-996A-BF02-29F90F398813}"/>
              </a:ext>
            </a:extLst>
          </p:cNvPr>
          <p:cNvSpPr txBox="1"/>
          <p:nvPr/>
        </p:nvSpPr>
        <p:spPr>
          <a:xfrm>
            <a:off x="9408328" y="2104158"/>
            <a:ext cx="3029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lash Display Medium" pitchFamily="2" charset="0"/>
              </a:rPr>
              <a:t>Key Route map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3043E7-3516-3A2D-1FC0-30F8C39E74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11741" y="384667"/>
            <a:ext cx="2805658" cy="1661972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4A57642F-871C-ED92-1E44-FCB644B4F6AA}"/>
              </a:ext>
            </a:extLst>
          </p:cNvPr>
          <p:cNvSpPr/>
          <p:nvPr/>
        </p:nvSpPr>
        <p:spPr>
          <a:xfrm>
            <a:off x="9812501" y="1850230"/>
            <a:ext cx="114219" cy="11421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C5A4149-62F0-5D03-5C7D-90D3BA409474}"/>
              </a:ext>
            </a:extLst>
          </p:cNvPr>
          <p:cNvSpPr/>
          <p:nvPr/>
        </p:nvSpPr>
        <p:spPr>
          <a:xfrm>
            <a:off x="10612601" y="473349"/>
            <a:ext cx="114219" cy="11421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93356BF-7AE9-4C2E-919A-C4A010F9588C}"/>
              </a:ext>
            </a:extLst>
          </p:cNvPr>
          <p:cNvCxnSpPr>
            <a:cxnSpLocks/>
            <a:stCxn id="4" idx="0"/>
            <a:endCxn id="17" idx="3"/>
          </p:cNvCxnSpPr>
          <p:nvPr/>
        </p:nvCxnSpPr>
        <p:spPr>
          <a:xfrm flipV="1">
            <a:off x="9869611" y="570841"/>
            <a:ext cx="759717" cy="1279389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76193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F1943-74BF-D0C3-0FBC-CF25125DC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C06D922-71A1-777A-41CC-19958ADB03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3C5B48F-14C5-7192-FC6D-2602928A34D9}"/>
              </a:ext>
            </a:extLst>
          </p:cNvPr>
          <p:cNvSpPr/>
          <p:nvPr/>
        </p:nvSpPr>
        <p:spPr>
          <a:xfrm>
            <a:off x="9408328" y="0"/>
            <a:ext cx="27836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86052C-0F96-364D-20B2-E34C436E0AEF}"/>
              </a:ext>
            </a:extLst>
          </p:cNvPr>
          <p:cNvSpPr txBox="1"/>
          <p:nvPr/>
        </p:nvSpPr>
        <p:spPr>
          <a:xfrm>
            <a:off x="9458840" y="5842335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4D9A59-C617-35A0-F114-2F3FEAE325C9}"/>
              </a:ext>
            </a:extLst>
          </p:cNvPr>
          <p:cNvSpPr txBox="1"/>
          <p:nvPr/>
        </p:nvSpPr>
        <p:spPr>
          <a:xfrm>
            <a:off x="8903368" y="6165501"/>
            <a:ext cx="3314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26 Dec’ 26</a:t>
            </a:r>
          </a:p>
          <a:p>
            <a:pPr algn="r"/>
            <a:r>
              <a:rPr lang="en-US" dirty="0">
                <a:latin typeface="Clash Display Light" pitchFamily="2" charset="0"/>
              </a:rPr>
              <a:t>Malana to </a:t>
            </a:r>
            <a:r>
              <a:rPr lang="en-US" dirty="0" err="1">
                <a:latin typeface="Clash Display Light" pitchFamily="2" charset="0"/>
              </a:rPr>
              <a:t>Kalga</a:t>
            </a:r>
            <a:endParaRPr lang="en-US" dirty="0">
              <a:latin typeface="Clash Display Light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FD8610-40BB-2F5B-19FA-4F79333313B6}"/>
              </a:ext>
            </a:extLst>
          </p:cNvPr>
          <p:cNvSpPr txBox="1"/>
          <p:nvPr/>
        </p:nvSpPr>
        <p:spPr>
          <a:xfrm>
            <a:off x="133350" y="384667"/>
            <a:ext cx="11506200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Malana to </a:t>
            </a:r>
            <a:r>
              <a:rPr lang="en-US" sz="2000" dirty="0" err="1">
                <a:solidFill>
                  <a:schemeClr val="bg1"/>
                </a:solidFill>
                <a:latin typeface="Clash Display Semibold" pitchFamily="2" charset="0"/>
              </a:rPr>
              <a:t>Kalga</a:t>
            </a:r>
            <a:endParaRPr lang="en-US" sz="16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Kalga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start-off  time – 12.30 pm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Preferred mode of travel –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tarveler</a:t>
            </a: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Malana to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Kalga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 distance – 16 kms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Travel Time according to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Gmaps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– 1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hr</a:t>
            </a: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Actual travel time – 5 to 6 hours (considering pee – poop and sight seeing pit stops)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Malana drop-off time – 5.30/6.00 pm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De-tour –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Manikaran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Sahib (gurudwara, hot springs and village)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Trek to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Kalga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stay – 1/1.5 hours (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Holycow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stay)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Reach stay by 7/7.30 pm</a:t>
            </a: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CA5EB39-05F0-0E96-A25B-04CC6CB15825}"/>
              </a:ext>
            </a:extLst>
          </p:cNvPr>
          <p:cNvSpPr txBox="1"/>
          <p:nvPr/>
        </p:nvSpPr>
        <p:spPr>
          <a:xfrm>
            <a:off x="9408328" y="2104158"/>
            <a:ext cx="3029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lash Display Medium" pitchFamily="2" charset="0"/>
              </a:rPr>
              <a:t>Key Route map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AD7782-6233-482F-6B21-5AD7BEE9C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11741" y="384667"/>
            <a:ext cx="2805658" cy="1661972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FD75106A-0612-9D08-36DE-700225980282}"/>
              </a:ext>
            </a:extLst>
          </p:cNvPr>
          <p:cNvSpPr/>
          <p:nvPr/>
        </p:nvSpPr>
        <p:spPr>
          <a:xfrm>
            <a:off x="9812501" y="1850230"/>
            <a:ext cx="114219" cy="11421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3BE13D6-A290-458D-BD18-9833B4F28E1D}"/>
              </a:ext>
            </a:extLst>
          </p:cNvPr>
          <p:cNvSpPr/>
          <p:nvPr/>
        </p:nvSpPr>
        <p:spPr>
          <a:xfrm>
            <a:off x="10612601" y="473349"/>
            <a:ext cx="114219" cy="11421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D3CE930-2F14-FC1F-F128-FEA6715B9D31}"/>
              </a:ext>
            </a:extLst>
          </p:cNvPr>
          <p:cNvCxnSpPr>
            <a:cxnSpLocks/>
            <a:stCxn id="4" idx="0"/>
            <a:endCxn id="17" idx="3"/>
          </p:cNvCxnSpPr>
          <p:nvPr/>
        </p:nvCxnSpPr>
        <p:spPr>
          <a:xfrm flipV="1">
            <a:off x="9869611" y="570841"/>
            <a:ext cx="759717" cy="1279389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D812AC0-3FDA-10A5-DF6A-C70D640E8068}"/>
              </a:ext>
            </a:extLst>
          </p:cNvPr>
          <p:cNvSpPr/>
          <p:nvPr/>
        </p:nvSpPr>
        <p:spPr>
          <a:xfrm>
            <a:off x="11858665" y="1009924"/>
            <a:ext cx="114219" cy="11421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34D2B1-D532-E635-379D-B6B4DC8F1619}"/>
              </a:ext>
            </a:extLst>
          </p:cNvPr>
          <p:cNvCxnSpPr>
            <a:cxnSpLocks/>
            <a:stCxn id="9" idx="1"/>
            <a:endCxn id="17" idx="7"/>
          </p:cNvCxnSpPr>
          <p:nvPr/>
        </p:nvCxnSpPr>
        <p:spPr>
          <a:xfrm flipH="1" flipV="1">
            <a:off x="10710093" y="490076"/>
            <a:ext cx="1165299" cy="536575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4175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148FF-0232-ABAB-1287-7F6DB8D42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F12834C-AD4F-69E2-D263-9287CC426F0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4B065CF-6845-4A57-E6A9-ECFF8BB5EC2F}"/>
              </a:ext>
            </a:extLst>
          </p:cNvPr>
          <p:cNvSpPr/>
          <p:nvPr/>
        </p:nvSpPr>
        <p:spPr>
          <a:xfrm>
            <a:off x="9408328" y="0"/>
            <a:ext cx="27836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EF8D96-DF9B-0998-B103-1988DE5F6163}"/>
              </a:ext>
            </a:extLst>
          </p:cNvPr>
          <p:cNvSpPr txBox="1"/>
          <p:nvPr/>
        </p:nvSpPr>
        <p:spPr>
          <a:xfrm>
            <a:off x="9458840" y="5842335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 4 &amp; 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5F6C1C-99EA-F317-A5A2-651B8B6D8A28}"/>
              </a:ext>
            </a:extLst>
          </p:cNvPr>
          <p:cNvSpPr txBox="1"/>
          <p:nvPr/>
        </p:nvSpPr>
        <p:spPr>
          <a:xfrm>
            <a:off x="8903368" y="6165501"/>
            <a:ext cx="3314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27 - 28 Dec’ 26</a:t>
            </a:r>
          </a:p>
          <a:p>
            <a:pPr algn="r"/>
            <a:r>
              <a:rPr lang="en-US" dirty="0" err="1">
                <a:latin typeface="Clash Display Light" pitchFamily="2" charset="0"/>
              </a:rPr>
              <a:t>Kalga</a:t>
            </a:r>
            <a:r>
              <a:rPr lang="en-US" dirty="0">
                <a:latin typeface="Clash Display Light" pitchFamily="2" charset="0"/>
              </a:rPr>
              <a:t> Halt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DCFC00-DE4F-DCEE-B18A-7C9D45FA6A6E}"/>
              </a:ext>
            </a:extLst>
          </p:cNvPr>
          <p:cNvSpPr txBox="1"/>
          <p:nvPr/>
        </p:nvSpPr>
        <p:spPr>
          <a:xfrm>
            <a:off x="133350" y="384667"/>
            <a:ext cx="1150620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  <a:latin typeface="Clash Display Semibold" pitchFamily="2" charset="0"/>
              </a:rPr>
              <a:t>Kalga</a:t>
            </a:r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 Halt</a:t>
            </a:r>
            <a:endParaRPr lang="en-US" sz="16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Stay in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Kalga</a:t>
            </a: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Take a trek to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Kutla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(4/5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hrs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trek)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Explore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Kalga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Chill &amp; Relax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Start slow</a:t>
            </a: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ACF88C-E5D0-61B0-0E3B-82A0E9409343}"/>
              </a:ext>
            </a:extLst>
          </p:cNvPr>
          <p:cNvSpPr txBox="1"/>
          <p:nvPr/>
        </p:nvSpPr>
        <p:spPr>
          <a:xfrm>
            <a:off x="9408328" y="2104158"/>
            <a:ext cx="3029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lash Display Medium" pitchFamily="2" charset="0"/>
              </a:rPr>
              <a:t>Key Route map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800831-1CBE-A960-9F1C-8BC28938A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11741" y="384667"/>
            <a:ext cx="2805658" cy="1661972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AACCB5B-68C6-5BEC-9157-6306C2499FDE}"/>
              </a:ext>
            </a:extLst>
          </p:cNvPr>
          <p:cNvSpPr/>
          <p:nvPr/>
        </p:nvSpPr>
        <p:spPr>
          <a:xfrm>
            <a:off x="9812501" y="1850230"/>
            <a:ext cx="114219" cy="11421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0864193-907B-E721-5A61-D585ECAE0139}"/>
              </a:ext>
            </a:extLst>
          </p:cNvPr>
          <p:cNvSpPr/>
          <p:nvPr/>
        </p:nvSpPr>
        <p:spPr>
          <a:xfrm>
            <a:off x="10612601" y="473349"/>
            <a:ext cx="114219" cy="11421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AF6A0B-2A41-517C-5711-27682EC6BEA8}"/>
              </a:ext>
            </a:extLst>
          </p:cNvPr>
          <p:cNvCxnSpPr>
            <a:cxnSpLocks/>
            <a:stCxn id="4" idx="0"/>
            <a:endCxn id="17" idx="3"/>
          </p:cNvCxnSpPr>
          <p:nvPr/>
        </p:nvCxnSpPr>
        <p:spPr>
          <a:xfrm flipV="1">
            <a:off x="9869611" y="570841"/>
            <a:ext cx="759717" cy="1279389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6E838903-6ED8-B6DD-90EC-BB7EED6BD4DE}"/>
              </a:ext>
            </a:extLst>
          </p:cNvPr>
          <p:cNvSpPr/>
          <p:nvPr/>
        </p:nvSpPr>
        <p:spPr>
          <a:xfrm>
            <a:off x="11858665" y="1009924"/>
            <a:ext cx="114219" cy="11421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9B3DCD-411C-2E38-41CA-CEA2FFCF70E3}"/>
              </a:ext>
            </a:extLst>
          </p:cNvPr>
          <p:cNvCxnSpPr>
            <a:cxnSpLocks/>
            <a:stCxn id="9" idx="1"/>
            <a:endCxn id="17" idx="7"/>
          </p:cNvCxnSpPr>
          <p:nvPr/>
        </p:nvCxnSpPr>
        <p:spPr>
          <a:xfrm flipH="1" flipV="1">
            <a:off x="10710093" y="490076"/>
            <a:ext cx="1165299" cy="536575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EFC46B8-8870-3582-EA6A-8A4D96464159}"/>
              </a:ext>
            </a:extLst>
          </p:cNvPr>
          <p:cNvSpPr txBox="1"/>
          <p:nvPr/>
        </p:nvSpPr>
        <p:spPr>
          <a:xfrm>
            <a:off x="133350" y="2893554"/>
            <a:ext cx="1150620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Pulga Halt</a:t>
            </a:r>
            <a:endParaRPr lang="en-US" sz="16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Leave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Kalga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around 9.00 am on 28 dec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Reach Pulga around 11.00 am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Check-in in Pulga and explore Pulga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Chill &amp; Relax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Go to Pulga hot spring</a:t>
            </a: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8294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4FFE7-4E72-F762-54B1-1D0BBC65B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95EA6BE-7C63-C8B1-8FCD-CD22F33E0E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A7AA6E7-59AE-9825-F754-290F654174A6}"/>
              </a:ext>
            </a:extLst>
          </p:cNvPr>
          <p:cNvSpPr/>
          <p:nvPr/>
        </p:nvSpPr>
        <p:spPr>
          <a:xfrm>
            <a:off x="9408328" y="0"/>
            <a:ext cx="27836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EDB41C-9B0D-76F1-427E-286DE66D4707}"/>
              </a:ext>
            </a:extLst>
          </p:cNvPr>
          <p:cNvSpPr txBox="1"/>
          <p:nvPr/>
        </p:nvSpPr>
        <p:spPr>
          <a:xfrm>
            <a:off x="9458840" y="5842335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 6 &amp; 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53864F-0DF2-30DB-6902-39173383F406}"/>
              </a:ext>
            </a:extLst>
          </p:cNvPr>
          <p:cNvSpPr txBox="1"/>
          <p:nvPr/>
        </p:nvSpPr>
        <p:spPr>
          <a:xfrm>
            <a:off x="8903368" y="6165501"/>
            <a:ext cx="3314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29 – 30 Dec’ 26</a:t>
            </a:r>
          </a:p>
          <a:p>
            <a:pPr algn="r"/>
            <a:r>
              <a:rPr lang="en-US" dirty="0">
                <a:latin typeface="Clash Display Light" pitchFamily="2" charset="0"/>
              </a:rPr>
              <a:t>Tosh To Chalal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212FD1-9D5A-2F18-9C7F-4C44F1D82CA4}"/>
              </a:ext>
            </a:extLst>
          </p:cNvPr>
          <p:cNvSpPr txBox="1"/>
          <p:nvPr/>
        </p:nvSpPr>
        <p:spPr>
          <a:xfrm>
            <a:off x="133350" y="175117"/>
            <a:ext cx="1150620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Pulga to Tosh &amp; Stay in Tosh (29 Dec)</a:t>
            </a:r>
            <a:endParaRPr lang="en-US" sz="16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Pulga to Tosh distance – 5 kms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Times as per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Gmaps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– 30 mins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Actual time – 1 hour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Reach Tosh, check-in and explore Tosh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Places to visit in Tosh: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Tosh waterfall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Trek near-by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Chill &amp; Relax 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430012B-14E9-9229-7C2B-AC7CC36AF2CD}"/>
              </a:ext>
            </a:extLst>
          </p:cNvPr>
          <p:cNvSpPr txBox="1"/>
          <p:nvPr/>
        </p:nvSpPr>
        <p:spPr>
          <a:xfrm>
            <a:off x="9408328" y="1894608"/>
            <a:ext cx="3029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lash Display Medium" pitchFamily="2" charset="0"/>
              </a:rPr>
              <a:t>Key Route map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FBA21A-E327-B3B8-FE90-05CD306FB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11741" y="175117"/>
            <a:ext cx="2805658" cy="1661972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7EAE0DE2-479C-FCB0-639B-0D1DA8EFBC4C}"/>
              </a:ext>
            </a:extLst>
          </p:cNvPr>
          <p:cNvSpPr/>
          <p:nvPr/>
        </p:nvSpPr>
        <p:spPr>
          <a:xfrm>
            <a:off x="9812501" y="1640680"/>
            <a:ext cx="114219" cy="11421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E040BA1-93EC-41EC-5808-84A9BAE87210}"/>
              </a:ext>
            </a:extLst>
          </p:cNvPr>
          <p:cNvSpPr/>
          <p:nvPr/>
        </p:nvSpPr>
        <p:spPr>
          <a:xfrm>
            <a:off x="10612601" y="263799"/>
            <a:ext cx="114219" cy="11421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EC185E9-011F-225A-6346-AF4BA6B90627}"/>
              </a:ext>
            </a:extLst>
          </p:cNvPr>
          <p:cNvCxnSpPr>
            <a:cxnSpLocks/>
            <a:stCxn id="4" idx="0"/>
            <a:endCxn id="17" idx="3"/>
          </p:cNvCxnSpPr>
          <p:nvPr/>
        </p:nvCxnSpPr>
        <p:spPr>
          <a:xfrm flipV="1">
            <a:off x="9869611" y="361291"/>
            <a:ext cx="759717" cy="1279389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57C93CB4-229D-BABB-F140-F9D0C472EB9C}"/>
              </a:ext>
            </a:extLst>
          </p:cNvPr>
          <p:cNvSpPr/>
          <p:nvPr/>
        </p:nvSpPr>
        <p:spPr>
          <a:xfrm>
            <a:off x="11858665" y="800374"/>
            <a:ext cx="114219" cy="11421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1A84EA-AD3F-82DD-A9C6-DBF8D3394A38}"/>
              </a:ext>
            </a:extLst>
          </p:cNvPr>
          <p:cNvCxnSpPr>
            <a:cxnSpLocks/>
            <a:stCxn id="9" idx="1"/>
            <a:endCxn id="17" idx="7"/>
          </p:cNvCxnSpPr>
          <p:nvPr/>
        </p:nvCxnSpPr>
        <p:spPr>
          <a:xfrm flipH="1" flipV="1">
            <a:off x="10710093" y="280526"/>
            <a:ext cx="1165299" cy="536575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71E55014-02D6-5817-9ADD-A050EF014009}"/>
              </a:ext>
            </a:extLst>
          </p:cNvPr>
          <p:cNvSpPr/>
          <p:nvPr/>
        </p:nvSpPr>
        <p:spPr>
          <a:xfrm>
            <a:off x="12040310" y="548813"/>
            <a:ext cx="114219" cy="11421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7AF38B9-86A7-35EE-2401-3BDE044DC058}"/>
              </a:ext>
            </a:extLst>
          </p:cNvPr>
          <p:cNvCxnSpPr>
            <a:cxnSpLocks/>
            <a:endCxn id="11" idx="3"/>
          </p:cNvCxnSpPr>
          <p:nvPr/>
        </p:nvCxnSpPr>
        <p:spPr>
          <a:xfrm flipV="1">
            <a:off x="11956157" y="646305"/>
            <a:ext cx="100880" cy="164934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93320BF7-7E71-9E44-35F2-69779DE7DF6F}"/>
              </a:ext>
            </a:extLst>
          </p:cNvPr>
          <p:cNvSpPr/>
          <p:nvPr/>
        </p:nvSpPr>
        <p:spPr>
          <a:xfrm>
            <a:off x="10972979" y="651862"/>
            <a:ext cx="114219" cy="11421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91550A2-9D25-7788-D60D-E32FDC6EEC14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11087198" y="565540"/>
            <a:ext cx="969839" cy="145660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92BF296-7258-561A-7860-CBDC95A3FB72}"/>
              </a:ext>
            </a:extLst>
          </p:cNvPr>
          <p:cNvSpPr txBox="1"/>
          <p:nvPr/>
        </p:nvSpPr>
        <p:spPr>
          <a:xfrm>
            <a:off x="133350" y="3983431"/>
            <a:ext cx="1150620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Stay in Tosh &amp; Tosh to Chalal via </a:t>
            </a:r>
            <a:r>
              <a:rPr lang="en-US" sz="2000" dirty="0" err="1">
                <a:solidFill>
                  <a:schemeClr val="bg1"/>
                </a:solidFill>
                <a:latin typeface="Clash Display Semibold" pitchFamily="2" charset="0"/>
              </a:rPr>
              <a:t>Kasol</a:t>
            </a:r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 (30 Dec)</a:t>
            </a:r>
            <a:endParaRPr lang="en-US" sz="16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Tosh to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Kasol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distance – 20kms</a:t>
            </a:r>
          </a:p>
          <a:p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Travel time as per </a:t>
            </a:r>
            <a:r>
              <a:rPr lang="en-US" sz="2000" dirty="0" err="1">
                <a:solidFill>
                  <a:schemeClr val="bg1"/>
                </a:solidFill>
                <a:latin typeface="Clash Display Light" pitchFamily="2" charset="0"/>
              </a:rPr>
              <a:t>Gmaps</a:t>
            </a:r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 – 1 </a:t>
            </a:r>
            <a:r>
              <a:rPr lang="en-US" sz="2000" dirty="0" err="1">
                <a:solidFill>
                  <a:schemeClr val="bg1"/>
                </a:solidFill>
                <a:latin typeface="Clash Display Light" pitchFamily="2" charset="0"/>
              </a:rPr>
              <a:t>hrs</a:t>
            </a:r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 30 mins’</a:t>
            </a:r>
          </a:p>
          <a:p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Actual Travel time – 3 </a:t>
            </a:r>
            <a:r>
              <a:rPr lang="en-US" sz="2000" dirty="0" err="1">
                <a:solidFill>
                  <a:schemeClr val="bg1"/>
                </a:solidFill>
                <a:latin typeface="Clash Display Light" pitchFamily="2" charset="0"/>
              </a:rPr>
              <a:t>hrs</a:t>
            </a:r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Departure from Tosh – 3.00 pm</a:t>
            </a:r>
          </a:p>
          <a:p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Reach </a:t>
            </a:r>
            <a:r>
              <a:rPr lang="en-US" sz="2000" dirty="0" err="1">
                <a:solidFill>
                  <a:schemeClr val="bg1"/>
                </a:solidFill>
                <a:latin typeface="Clash Display Light" pitchFamily="2" charset="0"/>
              </a:rPr>
              <a:t>Kasol</a:t>
            </a:r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 – 6.00pm</a:t>
            </a:r>
          </a:p>
          <a:p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Trek to Chalal and reach stay by 7.00 pm</a:t>
            </a:r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9975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85CCF-E456-BD85-97B9-AA0F673AF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A1646FE-69E1-B4EF-1A3A-FDD01201C6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D2FBFB4-DB85-8C90-9F52-A8CA2F39A769}"/>
              </a:ext>
            </a:extLst>
          </p:cNvPr>
          <p:cNvSpPr/>
          <p:nvPr/>
        </p:nvSpPr>
        <p:spPr>
          <a:xfrm>
            <a:off x="9408328" y="0"/>
            <a:ext cx="27836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AF2854-9584-830E-9D9C-54DE0CCB5217}"/>
              </a:ext>
            </a:extLst>
          </p:cNvPr>
          <p:cNvSpPr txBox="1"/>
          <p:nvPr/>
        </p:nvSpPr>
        <p:spPr>
          <a:xfrm>
            <a:off x="9458840" y="5842335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Day  8 &amp; 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DFD252-E6F6-9DB5-58D1-719B838FCD4D}"/>
              </a:ext>
            </a:extLst>
          </p:cNvPr>
          <p:cNvSpPr txBox="1"/>
          <p:nvPr/>
        </p:nvSpPr>
        <p:spPr>
          <a:xfrm>
            <a:off x="8903368" y="6165501"/>
            <a:ext cx="3314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Light" pitchFamily="2" charset="0"/>
              </a:rPr>
              <a:t>31 Dec’ 26 – 1 Jan ‘ 27</a:t>
            </a:r>
          </a:p>
          <a:p>
            <a:pPr algn="r"/>
            <a:r>
              <a:rPr lang="en-US" dirty="0">
                <a:latin typeface="Clash Display Light" pitchFamily="2" charset="0"/>
              </a:rPr>
              <a:t>Chalal Halt &amp; </a:t>
            </a:r>
            <a:r>
              <a:rPr lang="en-US" dirty="0" err="1">
                <a:latin typeface="Clash Display Light" pitchFamily="2" charset="0"/>
              </a:rPr>
              <a:t>Kasol</a:t>
            </a:r>
            <a:r>
              <a:rPr lang="en-US" dirty="0">
                <a:latin typeface="Clash Display Light" pitchFamily="2" charset="0"/>
              </a:rPr>
              <a:t> rave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94A65B-2C7C-0E4A-C28A-E63497BBC941}"/>
              </a:ext>
            </a:extLst>
          </p:cNvPr>
          <p:cNvSpPr txBox="1"/>
          <p:nvPr/>
        </p:nvSpPr>
        <p:spPr>
          <a:xfrm>
            <a:off x="133350" y="175117"/>
            <a:ext cx="115062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Chalal and near by sight seeing (31 dec)</a:t>
            </a:r>
            <a:endParaRPr lang="en-US" sz="16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Stay in Chalal in Café Fusion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Wake &amp;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Bkae</a:t>
            </a:r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 - Get a hash brownie baked and a hash oil joint rolled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Chill and relax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Evening – Small trek near and around </a:t>
            </a:r>
          </a:p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Night – Rave in </a:t>
            </a:r>
            <a:r>
              <a:rPr lang="en-US" dirty="0" err="1">
                <a:solidFill>
                  <a:schemeClr val="bg1"/>
                </a:solidFill>
                <a:latin typeface="Clash Display Light" pitchFamily="2" charset="0"/>
              </a:rPr>
              <a:t>Kasol</a:t>
            </a:r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Clash Display Semibold" pitchFamily="2" charset="0"/>
              </a:rPr>
              <a:t>Happy New Year</a:t>
            </a:r>
          </a:p>
          <a:p>
            <a:endParaRPr lang="en-US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Semibold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CE8F4E9-59F5-A755-96EE-AEEFBB6728E7}"/>
              </a:ext>
            </a:extLst>
          </p:cNvPr>
          <p:cNvSpPr txBox="1"/>
          <p:nvPr/>
        </p:nvSpPr>
        <p:spPr>
          <a:xfrm>
            <a:off x="9408328" y="1894608"/>
            <a:ext cx="3029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lash Display Medium" pitchFamily="2" charset="0"/>
              </a:rPr>
              <a:t>Key Route map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6D46FF-3F7A-310B-E343-675EF6063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11741" y="175117"/>
            <a:ext cx="2805658" cy="1661972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27861CEA-4C4E-D123-22B0-CB2E063A6B15}"/>
              </a:ext>
            </a:extLst>
          </p:cNvPr>
          <p:cNvSpPr/>
          <p:nvPr/>
        </p:nvSpPr>
        <p:spPr>
          <a:xfrm>
            <a:off x="9812501" y="1640680"/>
            <a:ext cx="114219" cy="11421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6912433-479E-DB5A-25BA-D16BD7CCCCF0}"/>
              </a:ext>
            </a:extLst>
          </p:cNvPr>
          <p:cNvSpPr/>
          <p:nvPr/>
        </p:nvSpPr>
        <p:spPr>
          <a:xfrm>
            <a:off x="10612601" y="263799"/>
            <a:ext cx="114219" cy="11421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2F6791F-326E-D23C-7DA2-B78AC790E805}"/>
              </a:ext>
            </a:extLst>
          </p:cNvPr>
          <p:cNvCxnSpPr>
            <a:cxnSpLocks/>
            <a:stCxn id="4" idx="0"/>
            <a:endCxn id="17" idx="3"/>
          </p:cNvCxnSpPr>
          <p:nvPr/>
        </p:nvCxnSpPr>
        <p:spPr>
          <a:xfrm flipV="1">
            <a:off x="9869611" y="361291"/>
            <a:ext cx="759717" cy="1279389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E76D2E2-5365-89F7-5FFA-8E853FBB8FB0}"/>
              </a:ext>
            </a:extLst>
          </p:cNvPr>
          <p:cNvSpPr/>
          <p:nvPr/>
        </p:nvSpPr>
        <p:spPr>
          <a:xfrm>
            <a:off x="11858665" y="800374"/>
            <a:ext cx="114219" cy="11421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91250C2-F83D-93D2-CC98-1D2ECDD920AF}"/>
              </a:ext>
            </a:extLst>
          </p:cNvPr>
          <p:cNvCxnSpPr>
            <a:cxnSpLocks/>
            <a:stCxn id="9" idx="1"/>
            <a:endCxn id="17" idx="7"/>
          </p:cNvCxnSpPr>
          <p:nvPr/>
        </p:nvCxnSpPr>
        <p:spPr>
          <a:xfrm flipH="1" flipV="1">
            <a:off x="10710093" y="280526"/>
            <a:ext cx="1165299" cy="536575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C243E1F1-AD65-5D93-D803-6E24C3D86BB0}"/>
              </a:ext>
            </a:extLst>
          </p:cNvPr>
          <p:cNvSpPr/>
          <p:nvPr/>
        </p:nvSpPr>
        <p:spPr>
          <a:xfrm>
            <a:off x="12040310" y="548813"/>
            <a:ext cx="114219" cy="11421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57E0007-BA36-32E8-69C8-EC7C189291C6}"/>
              </a:ext>
            </a:extLst>
          </p:cNvPr>
          <p:cNvCxnSpPr>
            <a:cxnSpLocks/>
            <a:endCxn id="11" idx="3"/>
          </p:cNvCxnSpPr>
          <p:nvPr/>
        </p:nvCxnSpPr>
        <p:spPr>
          <a:xfrm flipV="1">
            <a:off x="11956157" y="646305"/>
            <a:ext cx="100880" cy="164934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39837142-5598-1AD3-AC94-B80DB907BA4E}"/>
              </a:ext>
            </a:extLst>
          </p:cNvPr>
          <p:cNvSpPr/>
          <p:nvPr/>
        </p:nvSpPr>
        <p:spPr>
          <a:xfrm>
            <a:off x="10972979" y="651862"/>
            <a:ext cx="114219" cy="11421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B311FAB-A9B3-8C97-148B-F9E291EDCDD9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11087198" y="565540"/>
            <a:ext cx="969839" cy="145660"/>
          </a:xfrm>
          <a:prstGeom prst="line">
            <a:avLst/>
          </a:prstGeom>
          <a:ln w="38100">
            <a:solidFill>
              <a:srgbClr val="C0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229E464-0E52-B198-CF47-ADEBBCA7C9AF}"/>
              </a:ext>
            </a:extLst>
          </p:cNvPr>
          <p:cNvSpPr txBox="1"/>
          <p:nvPr/>
        </p:nvSpPr>
        <p:spPr>
          <a:xfrm>
            <a:off x="133350" y="3488183"/>
            <a:ext cx="9274977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lash Display Light" pitchFamily="2" charset="0"/>
              </a:rPr>
              <a:t>Rest in Chalal on 1 Jan 2027</a:t>
            </a:r>
          </a:p>
          <a:p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Trek down to </a:t>
            </a:r>
            <a:r>
              <a:rPr lang="en-US" sz="2000" dirty="0" err="1">
                <a:solidFill>
                  <a:schemeClr val="bg1"/>
                </a:solidFill>
                <a:latin typeface="Clash Display Light" pitchFamily="2" charset="0"/>
              </a:rPr>
              <a:t>kasol</a:t>
            </a:r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 from Chalal on 1 Jan 2027</a:t>
            </a:r>
          </a:p>
          <a:p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Take a bus from </a:t>
            </a:r>
            <a:r>
              <a:rPr lang="en-US" sz="2000" dirty="0" err="1">
                <a:solidFill>
                  <a:schemeClr val="bg1"/>
                </a:solidFill>
                <a:latin typeface="Clash Display Light" pitchFamily="2" charset="0"/>
              </a:rPr>
              <a:t>Kasol</a:t>
            </a:r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 to Delhi on 1 Jan 2027</a:t>
            </a:r>
          </a:p>
          <a:p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Reach Delhi on 2 Jan 2027 around 11.00 am.</a:t>
            </a:r>
          </a:p>
          <a:p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Check-in in Delhi freshen up, shop, café hop, rest as per </a:t>
            </a:r>
          </a:p>
          <a:p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Personal preferences and take a late night or early morning flight to Pune on </a:t>
            </a:r>
          </a:p>
          <a:p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3 Jan 2027.</a:t>
            </a: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9092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9F0DE-0923-8CD8-BA1B-D194CFED2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9F3A95-39A8-3FB3-4884-1FE60C3ACC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CD2CFA4-0277-7403-2968-BEFE72BF27A7}"/>
              </a:ext>
            </a:extLst>
          </p:cNvPr>
          <p:cNvSpPr/>
          <p:nvPr/>
        </p:nvSpPr>
        <p:spPr>
          <a:xfrm>
            <a:off x="9620250" y="6153150"/>
            <a:ext cx="2622262" cy="6967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D58DBD-8B87-4947-CCA8-17A4F0E10FE7}"/>
              </a:ext>
            </a:extLst>
          </p:cNvPr>
          <p:cNvSpPr txBox="1"/>
          <p:nvPr/>
        </p:nvSpPr>
        <p:spPr>
          <a:xfrm>
            <a:off x="9433440" y="6308036"/>
            <a:ext cx="275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Weather conditions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8B4DAF-6AE9-9F09-0D55-CEC3791C9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2035"/>
            <a:ext cx="9620250" cy="505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4896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24370-49F2-9B52-1F7A-6F89DDD38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4C92B1-93FE-76C4-28F1-39F9E5C432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182737D-0CEF-8C97-229F-C479D8AD62E7}"/>
              </a:ext>
            </a:extLst>
          </p:cNvPr>
          <p:cNvSpPr/>
          <p:nvPr/>
        </p:nvSpPr>
        <p:spPr>
          <a:xfrm>
            <a:off x="10420350" y="6308036"/>
            <a:ext cx="1771650" cy="5499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D27ADC5-3BEE-8AFA-E1C7-42128EAC8BEA}"/>
              </a:ext>
            </a:extLst>
          </p:cNvPr>
          <p:cNvSpPr txBox="1"/>
          <p:nvPr/>
        </p:nvSpPr>
        <p:spPr>
          <a:xfrm>
            <a:off x="133350" y="384667"/>
            <a:ext cx="12058650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Must Haves to Carry</a:t>
            </a: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Sunglasses UV Rated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Sunscreen 50+ SPF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Wet Wipes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Toilet Paper / Pee buddy (for girls)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Good Waterproof Shoes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Torch (optional)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Plenty of snacks, chocolates, dry fruits (emergency ration)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Keep sufficient drinking water handy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Clothes rated to -20 Degree Celsius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At least 2-3 Inner warmer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Medicine kit as per every individual &amp; a cumulative kit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Bags should be </a:t>
            </a:r>
            <a:r>
              <a:rPr lang="en-US" sz="2000" dirty="0" err="1">
                <a:solidFill>
                  <a:schemeClr val="bg1"/>
                </a:solidFill>
                <a:latin typeface="Clash Display Light" pitchFamily="2" charset="0"/>
              </a:rPr>
              <a:t>pittu</a:t>
            </a:r>
            <a:r>
              <a:rPr lang="en-US" sz="2000" dirty="0">
                <a:solidFill>
                  <a:schemeClr val="bg1"/>
                </a:solidFill>
                <a:latin typeface="Clash Display Light" pitchFamily="2" charset="0"/>
              </a:rPr>
              <a:t> bags / Rucksack, trolley bags would be very inconvenient to carry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Note : Let’s consider that we have a buffer day for any unforeseen circumstances like</a:t>
            </a:r>
          </a:p>
          <a:p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                   landslide/snowfall/travel delays etc. so be prepared mentally that we might have to skip</a:t>
            </a:r>
          </a:p>
          <a:p>
            <a:r>
              <a:rPr lang="en-US" sz="2000" dirty="0">
                <a:solidFill>
                  <a:schemeClr val="bg1"/>
                </a:solidFill>
                <a:latin typeface="Clash Display Semibold" pitchFamily="2" charset="0"/>
              </a:rPr>
              <a:t>                   spots if required.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Clash Display Light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Clash Display Light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FB2AC6-CEF2-C85A-98D0-D916F56A4E70}"/>
              </a:ext>
            </a:extLst>
          </p:cNvPr>
          <p:cNvSpPr txBox="1"/>
          <p:nvPr/>
        </p:nvSpPr>
        <p:spPr>
          <a:xfrm>
            <a:off x="10534650" y="6418669"/>
            <a:ext cx="1543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Clash Display Medium" pitchFamily="2" charset="0"/>
              </a:rPr>
              <a:t>Must Haves</a:t>
            </a:r>
          </a:p>
        </p:txBody>
      </p:sp>
    </p:spTree>
    <p:extLst>
      <p:ext uri="{BB962C8B-B14F-4D97-AF65-F5344CB8AC3E}">
        <p14:creationId xmlns:p14="http://schemas.microsoft.com/office/powerpoint/2010/main" val="1111678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934</TotalTime>
  <Words>3517</Words>
  <Application>Microsoft Office PowerPoint</Application>
  <PresentationFormat>Widescreen</PresentationFormat>
  <Paragraphs>664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Calibri</vt:lpstr>
      <vt:lpstr>Calibri Light</vt:lpstr>
      <vt:lpstr>Clash Display Light</vt:lpstr>
      <vt:lpstr>Clash Display Medium</vt:lpstr>
      <vt:lpstr>Clash Display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184</cp:revision>
  <dcterms:created xsi:type="dcterms:W3CDTF">2026-10-19T15:18:12Z</dcterms:created>
  <dcterms:modified xsi:type="dcterms:W3CDTF">2026-10-20T13:03:52Z</dcterms:modified>
</cp:coreProperties>
</file>